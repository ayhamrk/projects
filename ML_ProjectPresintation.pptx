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sldIdLst>
    <p:sldId id="256" r:id="rId3"/>
    <p:sldId id="257" r:id="rId4"/>
    <p:sldId id="258" r:id="rId5"/>
    <p:sldId id="261" r:id="rId6"/>
    <p:sldId id="259" r:id="rId7"/>
    <p:sldId id="262" r:id="rId8"/>
    <p:sldId id="263" r:id="rId9"/>
    <p:sldId id="265" r:id="rId10"/>
    <p:sldId id="264" r:id="rId11"/>
    <p:sldId id="267" r:id="rId12"/>
    <p:sldId id="268" r:id="rId13"/>
    <p:sldId id="269" r:id="rId14"/>
    <p:sldId id="266" r:id="rId15"/>
    <p:sldId id="273" r:id="rId16"/>
    <p:sldId id="270"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68D6B0-3F1D-4CA4-8A3B-922480AEDCAD}"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1D803D94-4F25-4A62-A1F7-8ABB2FC7C41A}">
      <dgm:prSet/>
      <dgm:spPr/>
      <dgm:t>
        <a:bodyPr/>
        <a:lstStyle/>
        <a:p>
          <a:r>
            <a:rPr lang="en-GB"/>
            <a:t>We faced challenges with understanding the data since its medical data and we are not experts but we used graphs and EDA to help us understand the data and what effects the target results</a:t>
          </a:r>
          <a:endParaRPr lang="en-US"/>
        </a:p>
      </dgm:t>
    </dgm:pt>
    <dgm:pt modelId="{B8313C90-D932-4BD7-A768-2BD9863F389B}" type="parTrans" cxnId="{86BE9C76-3E42-4983-8476-708B49108DA6}">
      <dgm:prSet/>
      <dgm:spPr/>
      <dgm:t>
        <a:bodyPr/>
        <a:lstStyle/>
        <a:p>
          <a:endParaRPr lang="en-US"/>
        </a:p>
      </dgm:t>
    </dgm:pt>
    <dgm:pt modelId="{65124299-5384-4808-B37D-90F8FBFF455A}" type="sibTrans" cxnId="{86BE9C76-3E42-4983-8476-708B49108DA6}">
      <dgm:prSet/>
      <dgm:spPr/>
      <dgm:t>
        <a:bodyPr/>
        <a:lstStyle/>
        <a:p>
          <a:endParaRPr lang="en-US"/>
        </a:p>
      </dgm:t>
    </dgm:pt>
    <dgm:pt modelId="{754D0415-CBF1-4D70-A53B-E0461EF5B677}">
      <dgm:prSet/>
      <dgm:spPr/>
      <dgm:t>
        <a:bodyPr/>
        <a:lstStyle/>
        <a:p>
          <a:r>
            <a:rPr lang="en-GB"/>
            <a:t>We had a hard time knowing what to models to use but with testing multiple models we found the best 3(RF,SVM,NB)</a:t>
          </a:r>
          <a:endParaRPr lang="en-US"/>
        </a:p>
      </dgm:t>
    </dgm:pt>
    <dgm:pt modelId="{50777B29-2046-43C8-8790-8FCAD7740C09}" type="parTrans" cxnId="{E4EA9240-D15F-4E7E-B010-71EF8901A1FF}">
      <dgm:prSet/>
      <dgm:spPr/>
      <dgm:t>
        <a:bodyPr/>
        <a:lstStyle/>
        <a:p>
          <a:endParaRPr lang="en-US"/>
        </a:p>
      </dgm:t>
    </dgm:pt>
    <dgm:pt modelId="{E4C159EC-1040-4491-8B43-AFF7BE09576D}" type="sibTrans" cxnId="{E4EA9240-D15F-4E7E-B010-71EF8901A1FF}">
      <dgm:prSet/>
      <dgm:spPr/>
      <dgm:t>
        <a:bodyPr/>
        <a:lstStyle/>
        <a:p>
          <a:endParaRPr lang="en-US"/>
        </a:p>
      </dgm:t>
    </dgm:pt>
    <dgm:pt modelId="{0B500227-3304-4BAA-8CA5-96173550561C}">
      <dgm:prSet/>
      <dgm:spPr/>
      <dgm:t>
        <a:bodyPr/>
        <a:lstStyle/>
        <a:p>
          <a:r>
            <a:rPr lang="en-GB"/>
            <a:t>Some models gave us low accuracy first but we increased the accuracy by </a:t>
          </a:r>
          <a:r>
            <a:rPr lang="en-US" b="0" i="0" baseline="0"/>
            <a:t>Choosing optimal features and hyperparameters.</a:t>
          </a:r>
          <a:endParaRPr lang="en-US"/>
        </a:p>
      </dgm:t>
    </dgm:pt>
    <dgm:pt modelId="{DF5CD8FD-53D4-4968-96EE-D599181DA92E}" type="parTrans" cxnId="{D701539E-C822-49F4-B9D4-6EFDAE9DF1E8}">
      <dgm:prSet/>
      <dgm:spPr/>
      <dgm:t>
        <a:bodyPr/>
        <a:lstStyle/>
        <a:p>
          <a:endParaRPr lang="en-US"/>
        </a:p>
      </dgm:t>
    </dgm:pt>
    <dgm:pt modelId="{57ECA0FD-BCDC-4D38-887C-B0CF0DAECCBD}" type="sibTrans" cxnId="{D701539E-C822-49F4-B9D4-6EFDAE9DF1E8}">
      <dgm:prSet/>
      <dgm:spPr/>
      <dgm:t>
        <a:bodyPr/>
        <a:lstStyle/>
        <a:p>
          <a:endParaRPr lang="en-US"/>
        </a:p>
      </dgm:t>
    </dgm:pt>
    <dgm:pt modelId="{F8B3FE70-7FAD-4796-B91F-98BE318DA32A}" type="pres">
      <dgm:prSet presAssocID="{E568D6B0-3F1D-4CA4-8A3B-922480AEDCAD}" presName="vert0" presStyleCnt="0">
        <dgm:presLayoutVars>
          <dgm:dir/>
          <dgm:animOne val="branch"/>
          <dgm:animLvl val="lvl"/>
        </dgm:presLayoutVars>
      </dgm:prSet>
      <dgm:spPr/>
    </dgm:pt>
    <dgm:pt modelId="{CA634F74-85AF-4D32-AC37-BD58E6DAEFE6}" type="pres">
      <dgm:prSet presAssocID="{1D803D94-4F25-4A62-A1F7-8ABB2FC7C41A}" presName="thickLine" presStyleLbl="alignNode1" presStyleIdx="0" presStyleCnt="3"/>
      <dgm:spPr/>
    </dgm:pt>
    <dgm:pt modelId="{B24B79B7-A995-4E56-9835-59D3A2632504}" type="pres">
      <dgm:prSet presAssocID="{1D803D94-4F25-4A62-A1F7-8ABB2FC7C41A}" presName="horz1" presStyleCnt="0"/>
      <dgm:spPr/>
    </dgm:pt>
    <dgm:pt modelId="{20196E5A-64B2-40E3-9260-820C9ED77D0F}" type="pres">
      <dgm:prSet presAssocID="{1D803D94-4F25-4A62-A1F7-8ABB2FC7C41A}" presName="tx1" presStyleLbl="revTx" presStyleIdx="0" presStyleCnt="3"/>
      <dgm:spPr/>
    </dgm:pt>
    <dgm:pt modelId="{BA331BAF-88FA-4305-8364-020411458DF9}" type="pres">
      <dgm:prSet presAssocID="{1D803D94-4F25-4A62-A1F7-8ABB2FC7C41A}" presName="vert1" presStyleCnt="0"/>
      <dgm:spPr/>
    </dgm:pt>
    <dgm:pt modelId="{B2AE4089-91CE-42A1-AA16-18805C2B1D43}" type="pres">
      <dgm:prSet presAssocID="{754D0415-CBF1-4D70-A53B-E0461EF5B677}" presName="thickLine" presStyleLbl="alignNode1" presStyleIdx="1" presStyleCnt="3"/>
      <dgm:spPr/>
    </dgm:pt>
    <dgm:pt modelId="{A8E57D3B-6448-46D5-9B70-63B80E20D2A7}" type="pres">
      <dgm:prSet presAssocID="{754D0415-CBF1-4D70-A53B-E0461EF5B677}" presName="horz1" presStyleCnt="0"/>
      <dgm:spPr/>
    </dgm:pt>
    <dgm:pt modelId="{1F589A2B-16B2-4354-8ABF-83724E2D1EF6}" type="pres">
      <dgm:prSet presAssocID="{754D0415-CBF1-4D70-A53B-E0461EF5B677}" presName="tx1" presStyleLbl="revTx" presStyleIdx="1" presStyleCnt="3"/>
      <dgm:spPr/>
    </dgm:pt>
    <dgm:pt modelId="{49D259B3-673C-4F46-A03B-3A40C51B4BE0}" type="pres">
      <dgm:prSet presAssocID="{754D0415-CBF1-4D70-A53B-E0461EF5B677}" presName="vert1" presStyleCnt="0"/>
      <dgm:spPr/>
    </dgm:pt>
    <dgm:pt modelId="{34184A96-26E4-4C1D-8C77-972FB4829D12}" type="pres">
      <dgm:prSet presAssocID="{0B500227-3304-4BAA-8CA5-96173550561C}" presName="thickLine" presStyleLbl="alignNode1" presStyleIdx="2" presStyleCnt="3"/>
      <dgm:spPr/>
    </dgm:pt>
    <dgm:pt modelId="{9FEB7BEE-CB81-47FC-89CA-1485DF555637}" type="pres">
      <dgm:prSet presAssocID="{0B500227-3304-4BAA-8CA5-96173550561C}" presName="horz1" presStyleCnt="0"/>
      <dgm:spPr/>
    </dgm:pt>
    <dgm:pt modelId="{A11D03D7-F56A-400B-9D84-E8637296F9A8}" type="pres">
      <dgm:prSet presAssocID="{0B500227-3304-4BAA-8CA5-96173550561C}" presName="tx1" presStyleLbl="revTx" presStyleIdx="2" presStyleCnt="3"/>
      <dgm:spPr/>
    </dgm:pt>
    <dgm:pt modelId="{7D13CDFB-A4E8-43BC-85FB-EA33064350F6}" type="pres">
      <dgm:prSet presAssocID="{0B500227-3304-4BAA-8CA5-96173550561C}" presName="vert1" presStyleCnt="0"/>
      <dgm:spPr/>
    </dgm:pt>
  </dgm:ptLst>
  <dgm:cxnLst>
    <dgm:cxn modelId="{A0B3D627-6F46-4859-9599-AE5368598900}" type="presOf" srcId="{0B500227-3304-4BAA-8CA5-96173550561C}" destId="{A11D03D7-F56A-400B-9D84-E8637296F9A8}" srcOrd="0" destOrd="0" presId="urn:microsoft.com/office/officeart/2008/layout/LinedList"/>
    <dgm:cxn modelId="{188D7A2C-7F3B-4F4A-B662-629860E26ED2}" type="presOf" srcId="{754D0415-CBF1-4D70-A53B-E0461EF5B677}" destId="{1F589A2B-16B2-4354-8ABF-83724E2D1EF6}" srcOrd="0" destOrd="0" presId="urn:microsoft.com/office/officeart/2008/layout/LinedList"/>
    <dgm:cxn modelId="{E4EA9240-D15F-4E7E-B010-71EF8901A1FF}" srcId="{E568D6B0-3F1D-4CA4-8A3B-922480AEDCAD}" destId="{754D0415-CBF1-4D70-A53B-E0461EF5B677}" srcOrd="1" destOrd="0" parTransId="{50777B29-2046-43C8-8790-8FCAD7740C09}" sibTransId="{E4C159EC-1040-4491-8B43-AFF7BE09576D}"/>
    <dgm:cxn modelId="{86BE9C76-3E42-4983-8476-708B49108DA6}" srcId="{E568D6B0-3F1D-4CA4-8A3B-922480AEDCAD}" destId="{1D803D94-4F25-4A62-A1F7-8ABB2FC7C41A}" srcOrd="0" destOrd="0" parTransId="{B8313C90-D932-4BD7-A768-2BD9863F389B}" sibTransId="{65124299-5384-4808-B37D-90F8FBFF455A}"/>
    <dgm:cxn modelId="{FFFC6098-C2B0-42A2-882F-1B3674EAE485}" type="presOf" srcId="{1D803D94-4F25-4A62-A1F7-8ABB2FC7C41A}" destId="{20196E5A-64B2-40E3-9260-820C9ED77D0F}" srcOrd="0" destOrd="0" presId="urn:microsoft.com/office/officeart/2008/layout/LinedList"/>
    <dgm:cxn modelId="{D701539E-C822-49F4-B9D4-6EFDAE9DF1E8}" srcId="{E568D6B0-3F1D-4CA4-8A3B-922480AEDCAD}" destId="{0B500227-3304-4BAA-8CA5-96173550561C}" srcOrd="2" destOrd="0" parTransId="{DF5CD8FD-53D4-4968-96EE-D599181DA92E}" sibTransId="{57ECA0FD-BCDC-4D38-887C-B0CF0DAECCBD}"/>
    <dgm:cxn modelId="{A2D98AE5-6B33-405F-A789-6F06CC47748E}" type="presOf" srcId="{E568D6B0-3F1D-4CA4-8A3B-922480AEDCAD}" destId="{F8B3FE70-7FAD-4796-B91F-98BE318DA32A}" srcOrd="0" destOrd="0" presId="urn:microsoft.com/office/officeart/2008/layout/LinedList"/>
    <dgm:cxn modelId="{96851FC4-03DC-440E-AA7C-7372B720085C}" type="presParOf" srcId="{F8B3FE70-7FAD-4796-B91F-98BE318DA32A}" destId="{CA634F74-85AF-4D32-AC37-BD58E6DAEFE6}" srcOrd="0" destOrd="0" presId="urn:microsoft.com/office/officeart/2008/layout/LinedList"/>
    <dgm:cxn modelId="{5A1DCD4D-67C4-4B30-9517-738581753F52}" type="presParOf" srcId="{F8B3FE70-7FAD-4796-B91F-98BE318DA32A}" destId="{B24B79B7-A995-4E56-9835-59D3A2632504}" srcOrd="1" destOrd="0" presId="urn:microsoft.com/office/officeart/2008/layout/LinedList"/>
    <dgm:cxn modelId="{2C1222F2-2C02-4773-8DCF-E6B646A552B0}" type="presParOf" srcId="{B24B79B7-A995-4E56-9835-59D3A2632504}" destId="{20196E5A-64B2-40E3-9260-820C9ED77D0F}" srcOrd="0" destOrd="0" presId="urn:microsoft.com/office/officeart/2008/layout/LinedList"/>
    <dgm:cxn modelId="{80952590-3FAF-4098-BF87-397D9BF5A97E}" type="presParOf" srcId="{B24B79B7-A995-4E56-9835-59D3A2632504}" destId="{BA331BAF-88FA-4305-8364-020411458DF9}" srcOrd="1" destOrd="0" presId="urn:microsoft.com/office/officeart/2008/layout/LinedList"/>
    <dgm:cxn modelId="{33CFB75D-AB87-4BB4-A7E7-3C41C2B9ACCD}" type="presParOf" srcId="{F8B3FE70-7FAD-4796-B91F-98BE318DA32A}" destId="{B2AE4089-91CE-42A1-AA16-18805C2B1D43}" srcOrd="2" destOrd="0" presId="urn:microsoft.com/office/officeart/2008/layout/LinedList"/>
    <dgm:cxn modelId="{2FD19BC6-8178-489F-AB5D-9B216D00E8DF}" type="presParOf" srcId="{F8B3FE70-7FAD-4796-B91F-98BE318DA32A}" destId="{A8E57D3B-6448-46D5-9B70-63B80E20D2A7}" srcOrd="3" destOrd="0" presId="urn:microsoft.com/office/officeart/2008/layout/LinedList"/>
    <dgm:cxn modelId="{024D774A-12B1-483C-9817-FBD9D68B63ED}" type="presParOf" srcId="{A8E57D3B-6448-46D5-9B70-63B80E20D2A7}" destId="{1F589A2B-16B2-4354-8ABF-83724E2D1EF6}" srcOrd="0" destOrd="0" presId="urn:microsoft.com/office/officeart/2008/layout/LinedList"/>
    <dgm:cxn modelId="{551F7432-66B9-4C98-9947-586AA5B1C915}" type="presParOf" srcId="{A8E57D3B-6448-46D5-9B70-63B80E20D2A7}" destId="{49D259B3-673C-4F46-A03B-3A40C51B4BE0}" srcOrd="1" destOrd="0" presId="urn:microsoft.com/office/officeart/2008/layout/LinedList"/>
    <dgm:cxn modelId="{C6C40669-3EC9-4BF1-B453-B3428E256DD3}" type="presParOf" srcId="{F8B3FE70-7FAD-4796-B91F-98BE318DA32A}" destId="{34184A96-26E4-4C1D-8C77-972FB4829D12}" srcOrd="4" destOrd="0" presId="urn:microsoft.com/office/officeart/2008/layout/LinedList"/>
    <dgm:cxn modelId="{488CDCC3-44AD-4BF7-AB8A-079C283E2AD8}" type="presParOf" srcId="{F8B3FE70-7FAD-4796-B91F-98BE318DA32A}" destId="{9FEB7BEE-CB81-47FC-89CA-1485DF555637}" srcOrd="5" destOrd="0" presId="urn:microsoft.com/office/officeart/2008/layout/LinedList"/>
    <dgm:cxn modelId="{911BE64C-5B29-479F-8FC8-4885608EFC13}" type="presParOf" srcId="{9FEB7BEE-CB81-47FC-89CA-1485DF555637}" destId="{A11D03D7-F56A-400B-9D84-E8637296F9A8}" srcOrd="0" destOrd="0" presId="urn:microsoft.com/office/officeart/2008/layout/LinedList"/>
    <dgm:cxn modelId="{0D50F114-5D5B-4615-8732-067FE682B467}" type="presParOf" srcId="{9FEB7BEE-CB81-47FC-89CA-1485DF555637}" destId="{7D13CDFB-A4E8-43BC-85FB-EA33064350F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634F74-85AF-4D32-AC37-BD58E6DAEFE6}">
      <dsp:nvSpPr>
        <dsp:cNvPr id="0" name=""/>
        <dsp:cNvSpPr/>
      </dsp:nvSpPr>
      <dsp:spPr>
        <a:xfrm>
          <a:off x="0" y="2700"/>
          <a:ext cx="6291714"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196E5A-64B2-40E3-9260-820C9ED77D0F}">
      <dsp:nvSpPr>
        <dsp:cNvPr id="0" name=""/>
        <dsp:cNvSpPr/>
      </dsp:nvSpPr>
      <dsp:spPr>
        <a:xfrm>
          <a:off x="0" y="2700"/>
          <a:ext cx="6291714" cy="1841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GB" sz="2300" kern="1200"/>
            <a:t>We faced challenges with understanding the data since its medical data and we are not experts but we used graphs and EDA to help us understand the data and what effects the target results</a:t>
          </a:r>
          <a:endParaRPr lang="en-US" sz="2300" kern="1200"/>
        </a:p>
      </dsp:txBody>
      <dsp:txXfrm>
        <a:off x="0" y="2700"/>
        <a:ext cx="6291714" cy="1841777"/>
      </dsp:txXfrm>
    </dsp:sp>
    <dsp:sp modelId="{B2AE4089-91CE-42A1-AA16-18805C2B1D43}">
      <dsp:nvSpPr>
        <dsp:cNvPr id="0" name=""/>
        <dsp:cNvSpPr/>
      </dsp:nvSpPr>
      <dsp:spPr>
        <a:xfrm>
          <a:off x="0" y="1844478"/>
          <a:ext cx="6291714" cy="0"/>
        </a:xfrm>
        <a:prstGeom prst="line">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F589A2B-16B2-4354-8ABF-83724E2D1EF6}">
      <dsp:nvSpPr>
        <dsp:cNvPr id="0" name=""/>
        <dsp:cNvSpPr/>
      </dsp:nvSpPr>
      <dsp:spPr>
        <a:xfrm>
          <a:off x="0" y="1844478"/>
          <a:ext cx="6291714" cy="1841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GB" sz="2300" kern="1200"/>
            <a:t>We had a hard time knowing what to models to use but with testing multiple models we found the best 3(RF,SVM,NB)</a:t>
          </a:r>
          <a:endParaRPr lang="en-US" sz="2300" kern="1200"/>
        </a:p>
      </dsp:txBody>
      <dsp:txXfrm>
        <a:off x="0" y="1844478"/>
        <a:ext cx="6291714" cy="1841777"/>
      </dsp:txXfrm>
    </dsp:sp>
    <dsp:sp modelId="{34184A96-26E4-4C1D-8C77-972FB4829D12}">
      <dsp:nvSpPr>
        <dsp:cNvPr id="0" name=""/>
        <dsp:cNvSpPr/>
      </dsp:nvSpPr>
      <dsp:spPr>
        <a:xfrm>
          <a:off x="0" y="3686256"/>
          <a:ext cx="6291714"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1D03D7-F56A-400B-9D84-E8637296F9A8}">
      <dsp:nvSpPr>
        <dsp:cNvPr id="0" name=""/>
        <dsp:cNvSpPr/>
      </dsp:nvSpPr>
      <dsp:spPr>
        <a:xfrm>
          <a:off x="0" y="3686256"/>
          <a:ext cx="6291714" cy="1841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GB" sz="2300" kern="1200"/>
            <a:t>Some models gave us low accuracy first but we increased the accuracy by </a:t>
          </a:r>
          <a:r>
            <a:rPr lang="en-US" sz="2300" b="0" i="0" kern="1200" baseline="0"/>
            <a:t>Choosing optimal features and hyperparameters.</a:t>
          </a:r>
          <a:endParaRPr lang="en-US" sz="2300" kern="1200"/>
        </a:p>
      </dsp:txBody>
      <dsp:txXfrm>
        <a:off x="0" y="3686256"/>
        <a:ext cx="6291714" cy="184177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F13FA-1C75-5492-378B-AF299433A8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9910334-BBD8-52CB-12D9-0A55DD45A2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9382AA2-508C-3A07-3839-9308F103092C}"/>
              </a:ext>
            </a:extLst>
          </p:cNvPr>
          <p:cNvSpPr>
            <a:spLocks noGrp="1"/>
          </p:cNvSpPr>
          <p:nvPr>
            <p:ph type="dt" sz="half" idx="10"/>
          </p:nvPr>
        </p:nvSpPr>
        <p:spPr/>
        <p:txBody>
          <a:bodyPr/>
          <a:lstStyle/>
          <a:p>
            <a:fld id="{D64AD772-AB81-49F2-BF6A-E84EBDCE154E}" type="datetimeFigureOut">
              <a:rPr lang="en-US" smtClean="0"/>
              <a:t>1/5/2025</a:t>
            </a:fld>
            <a:endParaRPr lang="en-US"/>
          </a:p>
        </p:txBody>
      </p:sp>
      <p:sp>
        <p:nvSpPr>
          <p:cNvPr id="5" name="Footer Placeholder 4">
            <a:extLst>
              <a:ext uri="{FF2B5EF4-FFF2-40B4-BE49-F238E27FC236}">
                <a16:creationId xmlns:a16="http://schemas.microsoft.com/office/drawing/2014/main" id="{7ADDAE17-78C6-3E75-0DB3-8BA2364B6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7B004A-E807-9B8F-EFA4-3D89B103CF6F}"/>
              </a:ext>
            </a:extLst>
          </p:cNvPr>
          <p:cNvSpPr>
            <a:spLocks noGrp="1"/>
          </p:cNvSpPr>
          <p:nvPr>
            <p:ph type="sldNum" sz="quarter" idx="12"/>
          </p:nvPr>
        </p:nvSpPr>
        <p:spPr/>
        <p:txBody>
          <a:bodyPr/>
          <a:lstStyle/>
          <a:p>
            <a:fld id="{99FE5F9A-9F3F-4CD8-BB00-E28EBEA95245}" type="slidenum">
              <a:rPr lang="en-US" smtClean="0"/>
              <a:t>‹#›</a:t>
            </a:fld>
            <a:endParaRPr lang="en-US"/>
          </a:p>
        </p:txBody>
      </p:sp>
    </p:spTree>
    <p:extLst>
      <p:ext uri="{BB962C8B-B14F-4D97-AF65-F5344CB8AC3E}">
        <p14:creationId xmlns:p14="http://schemas.microsoft.com/office/powerpoint/2010/main" val="3595670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14061-6447-A3E8-5852-6D7C5B33BC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D545D0-5166-289F-D49C-28C6AAF6E1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8810E8-B45D-36BE-4A50-5F99B181683A}"/>
              </a:ext>
            </a:extLst>
          </p:cNvPr>
          <p:cNvSpPr>
            <a:spLocks noGrp="1"/>
          </p:cNvSpPr>
          <p:nvPr>
            <p:ph type="dt" sz="half" idx="10"/>
          </p:nvPr>
        </p:nvSpPr>
        <p:spPr/>
        <p:txBody>
          <a:bodyPr/>
          <a:lstStyle/>
          <a:p>
            <a:fld id="{D64AD772-AB81-49F2-BF6A-E84EBDCE154E}" type="datetimeFigureOut">
              <a:rPr lang="en-US" smtClean="0"/>
              <a:t>1/5/2025</a:t>
            </a:fld>
            <a:endParaRPr lang="en-US"/>
          </a:p>
        </p:txBody>
      </p:sp>
      <p:sp>
        <p:nvSpPr>
          <p:cNvPr id="5" name="Footer Placeholder 4">
            <a:extLst>
              <a:ext uri="{FF2B5EF4-FFF2-40B4-BE49-F238E27FC236}">
                <a16:creationId xmlns:a16="http://schemas.microsoft.com/office/drawing/2014/main" id="{9F319945-BCD4-7270-A5B8-0E9D016277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06967B-5E2B-EE44-82A1-EFE8D150AD04}"/>
              </a:ext>
            </a:extLst>
          </p:cNvPr>
          <p:cNvSpPr>
            <a:spLocks noGrp="1"/>
          </p:cNvSpPr>
          <p:nvPr>
            <p:ph type="sldNum" sz="quarter" idx="12"/>
          </p:nvPr>
        </p:nvSpPr>
        <p:spPr/>
        <p:txBody>
          <a:bodyPr/>
          <a:lstStyle/>
          <a:p>
            <a:fld id="{99FE5F9A-9F3F-4CD8-BB00-E28EBEA95245}" type="slidenum">
              <a:rPr lang="en-US" smtClean="0"/>
              <a:t>‹#›</a:t>
            </a:fld>
            <a:endParaRPr lang="en-US"/>
          </a:p>
        </p:txBody>
      </p:sp>
    </p:spTree>
    <p:extLst>
      <p:ext uri="{BB962C8B-B14F-4D97-AF65-F5344CB8AC3E}">
        <p14:creationId xmlns:p14="http://schemas.microsoft.com/office/powerpoint/2010/main" val="2475292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E67AB-AA3A-EFF0-C631-D499F389B0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157FC59-2203-78A5-3577-5E8BD167780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C42368-117C-D7C3-DC3F-26C22E37A713}"/>
              </a:ext>
            </a:extLst>
          </p:cNvPr>
          <p:cNvSpPr>
            <a:spLocks noGrp="1"/>
          </p:cNvSpPr>
          <p:nvPr>
            <p:ph type="dt" sz="half" idx="10"/>
          </p:nvPr>
        </p:nvSpPr>
        <p:spPr/>
        <p:txBody>
          <a:bodyPr/>
          <a:lstStyle/>
          <a:p>
            <a:fld id="{D64AD772-AB81-49F2-BF6A-E84EBDCE154E}" type="datetimeFigureOut">
              <a:rPr lang="en-US" smtClean="0"/>
              <a:t>1/5/2025</a:t>
            </a:fld>
            <a:endParaRPr lang="en-US"/>
          </a:p>
        </p:txBody>
      </p:sp>
      <p:sp>
        <p:nvSpPr>
          <p:cNvPr id="5" name="Footer Placeholder 4">
            <a:extLst>
              <a:ext uri="{FF2B5EF4-FFF2-40B4-BE49-F238E27FC236}">
                <a16:creationId xmlns:a16="http://schemas.microsoft.com/office/drawing/2014/main" id="{3F75207D-7813-109B-C950-2FA00E77A4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3D8995-289F-2C96-DE1F-772EE5FEB27B}"/>
              </a:ext>
            </a:extLst>
          </p:cNvPr>
          <p:cNvSpPr>
            <a:spLocks noGrp="1"/>
          </p:cNvSpPr>
          <p:nvPr>
            <p:ph type="sldNum" sz="quarter" idx="12"/>
          </p:nvPr>
        </p:nvSpPr>
        <p:spPr/>
        <p:txBody>
          <a:bodyPr/>
          <a:lstStyle/>
          <a:p>
            <a:fld id="{99FE5F9A-9F3F-4CD8-BB00-E28EBEA95245}" type="slidenum">
              <a:rPr lang="en-US" smtClean="0"/>
              <a:t>‹#›</a:t>
            </a:fld>
            <a:endParaRPr lang="en-US"/>
          </a:p>
        </p:txBody>
      </p:sp>
    </p:spTree>
    <p:extLst>
      <p:ext uri="{BB962C8B-B14F-4D97-AF65-F5344CB8AC3E}">
        <p14:creationId xmlns:p14="http://schemas.microsoft.com/office/powerpoint/2010/main" val="2348025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071A4-4389-652E-7409-D408D9D381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3AC0A9-C782-0476-A6B0-92D937677C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7B4518-4683-3207-F66D-9D1285FA11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CCEA985-FF8F-0191-37FF-D7C9903A4D95}"/>
              </a:ext>
            </a:extLst>
          </p:cNvPr>
          <p:cNvSpPr>
            <a:spLocks noGrp="1"/>
          </p:cNvSpPr>
          <p:nvPr>
            <p:ph type="dt" sz="half" idx="10"/>
          </p:nvPr>
        </p:nvSpPr>
        <p:spPr/>
        <p:txBody>
          <a:bodyPr/>
          <a:lstStyle/>
          <a:p>
            <a:fld id="{D64AD772-AB81-49F2-BF6A-E84EBDCE154E}" type="datetimeFigureOut">
              <a:rPr lang="en-US" smtClean="0"/>
              <a:t>1/5/2025</a:t>
            </a:fld>
            <a:endParaRPr lang="en-US"/>
          </a:p>
        </p:txBody>
      </p:sp>
      <p:sp>
        <p:nvSpPr>
          <p:cNvPr id="6" name="Footer Placeholder 5">
            <a:extLst>
              <a:ext uri="{FF2B5EF4-FFF2-40B4-BE49-F238E27FC236}">
                <a16:creationId xmlns:a16="http://schemas.microsoft.com/office/drawing/2014/main" id="{CCE7E56C-783E-682F-54F6-18C793743B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AB4914-3E98-A80C-9D0E-046CBB6BF0F6}"/>
              </a:ext>
            </a:extLst>
          </p:cNvPr>
          <p:cNvSpPr>
            <a:spLocks noGrp="1"/>
          </p:cNvSpPr>
          <p:nvPr>
            <p:ph type="sldNum" sz="quarter" idx="12"/>
          </p:nvPr>
        </p:nvSpPr>
        <p:spPr/>
        <p:txBody>
          <a:bodyPr/>
          <a:lstStyle/>
          <a:p>
            <a:fld id="{99FE5F9A-9F3F-4CD8-BB00-E28EBEA95245}" type="slidenum">
              <a:rPr lang="en-US" smtClean="0"/>
              <a:t>‹#›</a:t>
            </a:fld>
            <a:endParaRPr lang="en-US"/>
          </a:p>
        </p:txBody>
      </p:sp>
    </p:spTree>
    <p:extLst>
      <p:ext uri="{BB962C8B-B14F-4D97-AF65-F5344CB8AC3E}">
        <p14:creationId xmlns:p14="http://schemas.microsoft.com/office/powerpoint/2010/main" val="3571212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58D15-16E3-3C0A-D848-54569D0967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C8C74A-FF46-C4E3-7BFF-53487C1203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7AF32F-010C-796C-6300-64194EA442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BE7145-C20D-ECBD-4ECB-90BCC82ECB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DDA121-1C01-F67A-D9B4-7DFD7498DF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B00B07-F165-CB34-EA03-2AE3C5A2D3CC}"/>
              </a:ext>
            </a:extLst>
          </p:cNvPr>
          <p:cNvSpPr>
            <a:spLocks noGrp="1"/>
          </p:cNvSpPr>
          <p:nvPr>
            <p:ph type="dt" sz="half" idx="10"/>
          </p:nvPr>
        </p:nvSpPr>
        <p:spPr/>
        <p:txBody>
          <a:bodyPr/>
          <a:lstStyle/>
          <a:p>
            <a:fld id="{D64AD772-AB81-49F2-BF6A-E84EBDCE154E}" type="datetimeFigureOut">
              <a:rPr lang="en-US" smtClean="0"/>
              <a:t>1/5/2025</a:t>
            </a:fld>
            <a:endParaRPr lang="en-US"/>
          </a:p>
        </p:txBody>
      </p:sp>
      <p:sp>
        <p:nvSpPr>
          <p:cNvPr id="8" name="Footer Placeholder 7">
            <a:extLst>
              <a:ext uri="{FF2B5EF4-FFF2-40B4-BE49-F238E27FC236}">
                <a16:creationId xmlns:a16="http://schemas.microsoft.com/office/drawing/2014/main" id="{8D5AA814-13EB-E5AB-C4C4-6E34C4B49F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F09FEF-C54F-4D47-FFCA-E28967AE81D2}"/>
              </a:ext>
            </a:extLst>
          </p:cNvPr>
          <p:cNvSpPr>
            <a:spLocks noGrp="1"/>
          </p:cNvSpPr>
          <p:nvPr>
            <p:ph type="sldNum" sz="quarter" idx="12"/>
          </p:nvPr>
        </p:nvSpPr>
        <p:spPr/>
        <p:txBody>
          <a:bodyPr/>
          <a:lstStyle/>
          <a:p>
            <a:fld id="{99FE5F9A-9F3F-4CD8-BB00-E28EBEA95245}" type="slidenum">
              <a:rPr lang="en-US" smtClean="0"/>
              <a:t>‹#›</a:t>
            </a:fld>
            <a:endParaRPr lang="en-US"/>
          </a:p>
        </p:txBody>
      </p:sp>
    </p:spTree>
    <p:extLst>
      <p:ext uri="{BB962C8B-B14F-4D97-AF65-F5344CB8AC3E}">
        <p14:creationId xmlns:p14="http://schemas.microsoft.com/office/powerpoint/2010/main" val="2342691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ECECF-CED6-DD76-B121-510309E2799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F880162-F9F2-B48A-7B14-B1730BE700C2}"/>
              </a:ext>
            </a:extLst>
          </p:cNvPr>
          <p:cNvSpPr>
            <a:spLocks noGrp="1"/>
          </p:cNvSpPr>
          <p:nvPr>
            <p:ph type="dt" sz="half" idx="10"/>
          </p:nvPr>
        </p:nvSpPr>
        <p:spPr/>
        <p:txBody>
          <a:bodyPr/>
          <a:lstStyle/>
          <a:p>
            <a:fld id="{D64AD772-AB81-49F2-BF6A-E84EBDCE154E}" type="datetimeFigureOut">
              <a:rPr lang="en-US" smtClean="0"/>
              <a:t>1/5/2025</a:t>
            </a:fld>
            <a:endParaRPr lang="en-US"/>
          </a:p>
        </p:txBody>
      </p:sp>
      <p:sp>
        <p:nvSpPr>
          <p:cNvPr id="4" name="Footer Placeholder 3">
            <a:extLst>
              <a:ext uri="{FF2B5EF4-FFF2-40B4-BE49-F238E27FC236}">
                <a16:creationId xmlns:a16="http://schemas.microsoft.com/office/drawing/2014/main" id="{034C3D75-69F1-CAFF-4100-0496D5CF06C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216D08-DA8D-95DC-17F9-EDA7B869CA57}"/>
              </a:ext>
            </a:extLst>
          </p:cNvPr>
          <p:cNvSpPr>
            <a:spLocks noGrp="1"/>
          </p:cNvSpPr>
          <p:nvPr>
            <p:ph type="sldNum" sz="quarter" idx="12"/>
          </p:nvPr>
        </p:nvSpPr>
        <p:spPr/>
        <p:txBody>
          <a:bodyPr/>
          <a:lstStyle/>
          <a:p>
            <a:fld id="{99FE5F9A-9F3F-4CD8-BB00-E28EBEA95245}" type="slidenum">
              <a:rPr lang="en-US" smtClean="0"/>
              <a:t>‹#›</a:t>
            </a:fld>
            <a:endParaRPr lang="en-US"/>
          </a:p>
        </p:txBody>
      </p:sp>
    </p:spTree>
    <p:extLst>
      <p:ext uri="{BB962C8B-B14F-4D97-AF65-F5344CB8AC3E}">
        <p14:creationId xmlns:p14="http://schemas.microsoft.com/office/powerpoint/2010/main" val="2445043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D76332-30C4-5C88-D3D6-1C57A87B3BFB}"/>
              </a:ext>
            </a:extLst>
          </p:cNvPr>
          <p:cNvSpPr>
            <a:spLocks noGrp="1"/>
          </p:cNvSpPr>
          <p:nvPr>
            <p:ph type="dt" sz="half" idx="10"/>
          </p:nvPr>
        </p:nvSpPr>
        <p:spPr/>
        <p:txBody>
          <a:bodyPr/>
          <a:lstStyle/>
          <a:p>
            <a:fld id="{D64AD772-AB81-49F2-BF6A-E84EBDCE154E}" type="datetimeFigureOut">
              <a:rPr lang="en-US" smtClean="0"/>
              <a:t>1/5/2025</a:t>
            </a:fld>
            <a:endParaRPr lang="en-US"/>
          </a:p>
        </p:txBody>
      </p:sp>
      <p:sp>
        <p:nvSpPr>
          <p:cNvPr id="3" name="Footer Placeholder 2">
            <a:extLst>
              <a:ext uri="{FF2B5EF4-FFF2-40B4-BE49-F238E27FC236}">
                <a16:creationId xmlns:a16="http://schemas.microsoft.com/office/drawing/2014/main" id="{916DB562-1A3F-A3B1-373E-FF21B8E1C8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1304F7-ED54-85A1-0E88-8F805115C41A}"/>
              </a:ext>
            </a:extLst>
          </p:cNvPr>
          <p:cNvSpPr>
            <a:spLocks noGrp="1"/>
          </p:cNvSpPr>
          <p:nvPr>
            <p:ph type="sldNum" sz="quarter" idx="12"/>
          </p:nvPr>
        </p:nvSpPr>
        <p:spPr/>
        <p:txBody>
          <a:bodyPr/>
          <a:lstStyle/>
          <a:p>
            <a:fld id="{99FE5F9A-9F3F-4CD8-BB00-E28EBEA95245}" type="slidenum">
              <a:rPr lang="en-US" smtClean="0"/>
              <a:t>‹#›</a:t>
            </a:fld>
            <a:endParaRPr lang="en-US"/>
          </a:p>
        </p:txBody>
      </p:sp>
    </p:spTree>
    <p:extLst>
      <p:ext uri="{BB962C8B-B14F-4D97-AF65-F5344CB8AC3E}">
        <p14:creationId xmlns:p14="http://schemas.microsoft.com/office/powerpoint/2010/main" val="1668890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33B7B-964D-01CE-4865-1FFA678894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422CC3-4151-FDC0-8935-2213DC3E62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B1CF9C-6C6E-400C-DC7D-AE6A884287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D0F62C-E105-ED05-1D6B-0B747A649B65}"/>
              </a:ext>
            </a:extLst>
          </p:cNvPr>
          <p:cNvSpPr>
            <a:spLocks noGrp="1"/>
          </p:cNvSpPr>
          <p:nvPr>
            <p:ph type="dt" sz="half" idx="10"/>
          </p:nvPr>
        </p:nvSpPr>
        <p:spPr/>
        <p:txBody>
          <a:bodyPr/>
          <a:lstStyle/>
          <a:p>
            <a:fld id="{D64AD772-AB81-49F2-BF6A-E84EBDCE154E}" type="datetimeFigureOut">
              <a:rPr lang="en-US" smtClean="0"/>
              <a:t>1/5/2025</a:t>
            </a:fld>
            <a:endParaRPr lang="en-US"/>
          </a:p>
        </p:txBody>
      </p:sp>
      <p:sp>
        <p:nvSpPr>
          <p:cNvPr id="6" name="Footer Placeholder 5">
            <a:extLst>
              <a:ext uri="{FF2B5EF4-FFF2-40B4-BE49-F238E27FC236}">
                <a16:creationId xmlns:a16="http://schemas.microsoft.com/office/drawing/2014/main" id="{68D22DFF-BBDC-BFD2-84A1-C6C2F618A7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942CB5-66E1-2C8B-4284-5FADDE60507D}"/>
              </a:ext>
            </a:extLst>
          </p:cNvPr>
          <p:cNvSpPr>
            <a:spLocks noGrp="1"/>
          </p:cNvSpPr>
          <p:nvPr>
            <p:ph type="sldNum" sz="quarter" idx="12"/>
          </p:nvPr>
        </p:nvSpPr>
        <p:spPr/>
        <p:txBody>
          <a:bodyPr/>
          <a:lstStyle/>
          <a:p>
            <a:fld id="{99FE5F9A-9F3F-4CD8-BB00-E28EBEA95245}" type="slidenum">
              <a:rPr lang="en-US" smtClean="0"/>
              <a:t>‹#›</a:t>
            </a:fld>
            <a:endParaRPr lang="en-US"/>
          </a:p>
        </p:txBody>
      </p:sp>
    </p:spTree>
    <p:extLst>
      <p:ext uri="{BB962C8B-B14F-4D97-AF65-F5344CB8AC3E}">
        <p14:creationId xmlns:p14="http://schemas.microsoft.com/office/powerpoint/2010/main" val="35833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554BE-2C19-7B5D-E6A2-00208EC977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4EF25B6-598A-E4B8-93B0-573A4ABBED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74B00D8-D80B-F404-CE56-65B0C8E282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BA8023-871F-84A1-F0C2-7973DFED706F}"/>
              </a:ext>
            </a:extLst>
          </p:cNvPr>
          <p:cNvSpPr>
            <a:spLocks noGrp="1"/>
          </p:cNvSpPr>
          <p:nvPr>
            <p:ph type="dt" sz="half" idx="10"/>
          </p:nvPr>
        </p:nvSpPr>
        <p:spPr/>
        <p:txBody>
          <a:bodyPr/>
          <a:lstStyle/>
          <a:p>
            <a:fld id="{D64AD772-AB81-49F2-BF6A-E84EBDCE154E}" type="datetimeFigureOut">
              <a:rPr lang="en-US" smtClean="0"/>
              <a:t>1/5/2025</a:t>
            </a:fld>
            <a:endParaRPr lang="en-US"/>
          </a:p>
        </p:txBody>
      </p:sp>
      <p:sp>
        <p:nvSpPr>
          <p:cNvPr id="6" name="Footer Placeholder 5">
            <a:extLst>
              <a:ext uri="{FF2B5EF4-FFF2-40B4-BE49-F238E27FC236}">
                <a16:creationId xmlns:a16="http://schemas.microsoft.com/office/drawing/2014/main" id="{E3BF0139-922A-5CD3-63BE-6DA6AC84D9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2BE22C-104A-2ADE-6F19-0EE577CAB01A}"/>
              </a:ext>
            </a:extLst>
          </p:cNvPr>
          <p:cNvSpPr>
            <a:spLocks noGrp="1"/>
          </p:cNvSpPr>
          <p:nvPr>
            <p:ph type="sldNum" sz="quarter" idx="12"/>
          </p:nvPr>
        </p:nvSpPr>
        <p:spPr/>
        <p:txBody>
          <a:bodyPr/>
          <a:lstStyle/>
          <a:p>
            <a:fld id="{99FE5F9A-9F3F-4CD8-BB00-E28EBEA95245}" type="slidenum">
              <a:rPr lang="en-US" smtClean="0"/>
              <a:t>‹#›</a:t>
            </a:fld>
            <a:endParaRPr lang="en-US"/>
          </a:p>
        </p:txBody>
      </p:sp>
    </p:spTree>
    <p:extLst>
      <p:ext uri="{BB962C8B-B14F-4D97-AF65-F5344CB8AC3E}">
        <p14:creationId xmlns:p14="http://schemas.microsoft.com/office/powerpoint/2010/main" val="1348201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74B35-89DB-E5B8-B408-B1FB53138B0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24077D3-B411-6BEC-289A-530FCDE366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6C34E2-F38C-D1BE-82E8-CA3C7E809E45}"/>
              </a:ext>
            </a:extLst>
          </p:cNvPr>
          <p:cNvSpPr>
            <a:spLocks noGrp="1"/>
          </p:cNvSpPr>
          <p:nvPr>
            <p:ph type="dt" sz="half" idx="10"/>
          </p:nvPr>
        </p:nvSpPr>
        <p:spPr/>
        <p:txBody>
          <a:bodyPr/>
          <a:lstStyle/>
          <a:p>
            <a:fld id="{D64AD772-AB81-49F2-BF6A-E84EBDCE154E}" type="datetimeFigureOut">
              <a:rPr lang="en-US" smtClean="0"/>
              <a:t>1/5/2025</a:t>
            </a:fld>
            <a:endParaRPr lang="en-US"/>
          </a:p>
        </p:txBody>
      </p:sp>
      <p:sp>
        <p:nvSpPr>
          <p:cNvPr id="5" name="Footer Placeholder 4">
            <a:extLst>
              <a:ext uri="{FF2B5EF4-FFF2-40B4-BE49-F238E27FC236}">
                <a16:creationId xmlns:a16="http://schemas.microsoft.com/office/drawing/2014/main" id="{B9F0021C-8B88-0D90-B1B1-AA135DF4F5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DF04FD-4D87-5FDA-F3EC-29766DBD39AC}"/>
              </a:ext>
            </a:extLst>
          </p:cNvPr>
          <p:cNvSpPr>
            <a:spLocks noGrp="1"/>
          </p:cNvSpPr>
          <p:nvPr>
            <p:ph type="sldNum" sz="quarter" idx="12"/>
          </p:nvPr>
        </p:nvSpPr>
        <p:spPr/>
        <p:txBody>
          <a:bodyPr/>
          <a:lstStyle/>
          <a:p>
            <a:fld id="{99FE5F9A-9F3F-4CD8-BB00-E28EBEA95245}" type="slidenum">
              <a:rPr lang="en-US" smtClean="0"/>
              <a:t>‹#›</a:t>
            </a:fld>
            <a:endParaRPr lang="en-US"/>
          </a:p>
        </p:txBody>
      </p:sp>
    </p:spTree>
    <p:extLst>
      <p:ext uri="{BB962C8B-B14F-4D97-AF65-F5344CB8AC3E}">
        <p14:creationId xmlns:p14="http://schemas.microsoft.com/office/powerpoint/2010/main" val="108993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E1DA1E-65DB-73F2-60FE-5C7B73B116A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7E4DEF-3C0A-4CC3-53F3-265EEF4683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263048-E7F8-0C14-BD33-DC225626BC2D}"/>
              </a:ext>
            </a:extLst>
          </p:cNvPr>
          <p:cNvSpPr>
            <a:spLocks noGrp="1"/>
          </p:cNvSpPr>
          <p:nvPr>
            <p:ph type="dt" sz="half" idx="10"/>
          </p:nvPr>
        </p:nvSpPr>
        <p:spPr/>
        <p:txBody>
          <a:bodyPr/>
          <a:lstStyle/>
          <a:p>
            <a:fld id="{D64AD772-AB81-49F2-BF6A-E84EBDCE154E}" type="datetimeFigureOut">
              <a:rPr lang="en-US" smtClean="0"/>
              <a:t>1/5/2025</a:t>
            </a:fld>
            <a:endParaRPr lang="en-US"/>
          </a:p>
        </p:txBody>
      </p:sp>
      <p:sp>
        <p:nvSpPr>
          <p:cNvPr id="5" name="Footer Placeholder 4">
            <a:extLst>
              <a:ext uri="{FF2B5EF4-FFF2-40B4-BE49-F238E27FC236}">
                <a16:creationId xmlns:a16="http://schemas.microsoft.com/office/drawing/2014/main" id="{547EC1D5-F38E-EE4A-9012-CC8C9CF89E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9B5DEB-7BA8-08E1-2E4A-9DCE04D452A7}"/>
              </a:ext>
            </a:extLst>
          </p:cNvPr>
          <p:cNvSpPr>
            <a:spLocks noGrp="1"/>
          </p:cNvSpPr>
          <p:nvPr>
            <p:ph type="sldNum" sz="quarter" idx="12"/>
          </p:nvPr>
        </p:nvSpPr>
        <p:spPr/>
        <p:txBody>
          <a:bodyPr/>
          <a:lstStyle/>
          <a:p>
            <a:fld id="{99FE5F9A-9F3F-4CD8-BB00-E28EBEA95245}" type="slidenum">
              <a:rPr lang="en-US" smtClean="0"/>
              <a:t>‹#›</a:t>
            </a:fld>
            <a:endParaRPr lang="en-US"/>
          </a:p>
        </p:txBody>
      </p:sp>
    </p:spTree>
    <p:extLst>
      <p:ext uri="{BB962C8B-B14F-4D97-AF65-F5344CB8AC3E}">
        <p14:creationId xmlns:p14="http://schemas.microsoft.com/office/powerpoint/2010/main" val="35837519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954FC-B5CF-5C73-E92B-F013EBF2D46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28E5852-5287-1DE2-12AC-1D95BA8866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6341597-10CB-0D06-9040-D911F67FFC3C}"/>
              </a:ext>
            </a:extLst>
          </p:cNvPr>
          <p:cNvSpPr>
            <a:spLocks noGrp="1"/>
          </p:cNvSpPr>
          <p:nvPr>
            <p:ph type="dt" sz="half" idx="10"/>
          </p:nvPr>
        </p:nvSpPr>
        <p:spPr/>
        <p:txBody>
          <a:bodyPr/>
          <a:lstStyle/>
          <a:p>
            <a:fld id="{413ACB41-B4EF-45E0-A79F-C5949FED85D7}" type="datetimeFigureOut">
              <a:rPr lang="en-GB" smtClean="0"/>
              <a:t>05/01/2025</a:t>
            </a:fld>
            <a:endParaRPr lang="en-GB"/>
          </a:p>
        </p:txBody>
      </p:sp>
      <p:sp>
        <p:nvSpPr>
          <p:cNvPr id="5" name="Footer Placeholder 4">
            <a:extLst>
              <a:ext uri="{FF2B5EF4-FFF2-40B4-BE49-F238E27FC236}">
                <a16:creationId xmlns:a16="http://schemas.microsoft.com/office/drawing/2014/main" id="{907B43C7-C63C-AC8D-AB99-7E1D2C8915B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7C79121-8F96-2EDA-E271-DFF7E6D4300F}"/>
              </a:ext>
            </a:extLst>
          </p:cNvPr>
          <p:cNvSpPr>
            <a:spLocks noGrp="1"/>
          </p:cNvSpPr>
          <p:nvPr>
            <p:ph type="sldNum" sz="quarter" idx="12"/>
          </p:nvPr>
        </p:nvSpPr>
        <p:spPr/>
        <p:txBody>
          <a:bodyPr/>
          <a:lstStyle/>
          <a:p>
            <a:fld id="{45B62A5B-0274-4DB4-B0F7-E4C8162D0046}" type="slidenum">
              <a:rPr lang="en-GB" smtClean="0"/>
              <a:t>‹#›</a:t>
            </a:fld>
            <a:endParaRPr lang="en-GB"/>
          </a:p>
        </p:txBody>
      </p:sp>
    </p:spTree>
    <p:extLst>
      <p:ext uri="{BB962C8B-B14F-4D97-AF65-F5344CB8AC3E}">
        <p14:creationId xmlns:p14="http://schemas.microsoft.com/office/powerpoint/2010/main" val="2465904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7F3A2C-A531-FE14-CD00-6E27BDEF3A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680B75B-DD97-429E-ABFF-2827B429AB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7A61CD-7BB0-5670-793F-DAB9B839E7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4AD772-AB81-49F2-BF6A-E84EBDCE154E}" type="datetimeFigureOut">
              <a:rPr lang="en-US" smtClean="0"/>
              <a:t>1/5/2025</a:t>
            </a:fld>
            <a:endParaRPr lang="en-US"/>
          </a:p>
        </p:txBody>
      </p:sp>
      <p:sp>
        <p:nvSpPr>
          <p:cNvPr id="5" name="Footer Placeholder 4">
            <a:extLst>
              <a:ext uri="{FF2B5EF4-FFF2-40B4-BE49-F238E27FC236}">
                <a16:creationId xmlns:a16="http://schemas.microsoft.com/office/drawing/2014/main" id="{3B0958CC-569B-0117-5577-1F932E13E4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3698F63-4A13-AFB9-C0A3-E66C117733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FE5F9A-9F3F-4CD8-BB00-E28EBEA95245}" type="slidenum">
              <a:rPr lang="en-US" smtClean="0"/>
              <a:t>‹#›</a:t>
            </a:fld>
            <a:endParaRPr lang="en-US"/>
          </a:p>
        </p:txBody>
      </p:sp>
    </p:spTree>
    <p:extLst>
      <p:ext uri="{BB962C8B-B14F-4D97-AF65-F5344CB8AC3E}">
        <p14:creationId xmlns:p14="http://schemas.microsoft.com/office/powerpoint/2010/main" val="2556437787"/>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AA9E0A-FB99-5C8C-0E39-F4634F3847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FEA692B-ACFD-3109-D2F2-39349CB784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6C3E5FF-E998-B16E-7969-E2E4669BF5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3ACB41-B4EF-45E0-A79F-C5949FED85D7}" type="datetimeFigureOut">
              <a:rPr lang="en-GB" smtClean="0"/>
              <a:t>05/01/2025</a:t>
            </a:fld>
            <a:endParaRPr lang="en-GB"/>
          </a:p>
        </p:txBody>
      </p:sp>
      <p:sp>
        <p:nvSpPr>
          <p:cNvPr id="5" name="Footer Placeholder 4">
            <a:extLst>
              <a:ext uri="{FF2B5EF4-FFF2-40B4-BE49-F238E27FC236}">
                <a16:creationId xmlns:a16="http://schemas.microsoft.com/office/drawing/2014/main" id="{7E75F023-2837-37A7-1F75-3967D47985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1375E7E-D2E2-8A76-C8C3-0EF86C5D45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5B62A5B-0274-4DB4-B0F7-E4C8162D0046}" type="slidenum">
              <a:rPr lang="en-GB" smtClean="0"/>
              <a:t>‹#›</a:t>
            </a:fld>
            <a:endParaRPr lang="en-GB"/>
          </a:p>
        </p:txBody>
      </p:sp>
    </p:spTree>
    <p:extLst>
      <p:ext uri="{BB962C8B-B14F-4D97-AF65-F5344CB8AC3E}">
        <p14:creationId xmlns:p14="http://schemas.microsoft.com/office/powerpoint/2010/main" val="996574210"/>
      </p:ext>
    </p:extLst>
  </p:cSld>
  <p:clrMap bg1="lt1" tx1="dk1" bg2="lt2" tx2="dk2" accent1="accent1" accent2="accent2" accent3="accent3" accent4="accent4" accent5="accent5" accent6="accent6" hlink="hlink" folHlink="folHlink"/>
  <p:sldLayoutIdLst>
    <p:sldLayoutId id="214748365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65D1C-74C1-68C0-C8B8-427492CF1C85}"/>
              </a:ext>
            </a:extLst>
          </p:cNvPr>
          <p:cNvSpPr>
            <a:spLocks noGrp="1"/>
          </p:cNvSpPr>
          <p:nvPr>
            <p:ph type="ctrTitle"/>
          </p:nvPr>
        </p:nvSpPr>
        <p:spPr/>
        <p:txBody>
          <a:bodyPr>
            <a:normAutofit/>
          </a:bodyPr>
          <a:lstStyle/>
          <a:p>
            <a:r>
              <a:rPr lang="en-US" sz="4400" dirty="0"/>
              <a:t>"Time-Series Forecasting and Classification Models: A Machine Learning Approach"</a:t>
            </a:r>
          </a:p>
        </p:txBody>
      </p:sp>
      <p:sp>
        <p:nvSpPr>
          <p:cNvPr id="3" name="Subtitle 2">
            <a:extLst>
              <a:ext uri="{FF2B5EF4-FFF2-40B4-BE49-F238E27FC236}">
                <a16:creationId xmlns:a16="http://schemas.microsoft.com/office/drawing/2014/main" id="{CE3651F5-AA2B-D1C3-A989-8DEDD892CB58}"/>
              </a:ext>
            </a:extLst>
          </p:cNvPr>
          <p:cNvSpPr>
            <a:spLocks noGrp="1"/>
          </p:cNvSpPr>
          <p:nvPr>
            <p:ph type="subTitle" idx="1"/>
          </p:nvPr>
        </p:nvSpPr>
        <p:spPr>
          <a:xfrm>
            <a:off x="1895456" y="4332400"/>
            <a:ext cx="2678545" cy="1854733"/>
          </a:xfrm>
        </p:spPr>
        <p:txBody>
          <a:bodyPr wrap="square" tIns="91440" spcCol="0">
            <a:noAutofit/>
          </a:bodyPr>
          <a:lstStyle/>
          <a:p>
            <a:pPr algn="l"/>
            <a:r>
              <a:rPr lang="en-US" sz="1400" dirty="0"/>
              <a:t>Students</a:t>
            </a:r>
          </a:p>
          <a:p>
            <a:pPr marL="285750" indent="-285750" algn="l">
              <a:buFont typeface="Arial" panose="020B0604020202020204" pitchFamily="34" charset="0"/>
              <a:buChar char="•"/>
            </a:pPr>
            <a:r>
              <a:rPr lang="en-US" sz="1400" dirty="0"/>
              <a:t>Omar Jabour 0224379 </a:t>
            </a:r>
          </a:p>
          <a:p>
            <a:pPr marL="285750" indent="-285750" algn="l">
              <a:buFont typeface="Arial" panose="020B0604020202020204" pitchFamily="34" charset="0"/>
              <a:buChar char="•"/>
            </a:pPr>
            <a:r>
              <a:rPr lang="en-US" sz="1400" dirty="0"/>
              <a:t>Layan Nofal 0228240</a:t>
            </a:r>
          </a:p>
          <a:p>
            <a:pPr marL="285750" indent="-285750" algn="l">
              <a:buFont typeface="Arial" panose="020B0604020202020204" pitchFamily="34" charset="0"/>
              <a:buChar char="•"/>
            </a:pPr>
            <a:r>
              <a:rPr lang="en-US" sz="1400" dirty="0"/>
              <a:t>Ayham </a:t>
            </a:r>
            <a:r>
              <a:rPr lang="en-US" sz="1400" dirty="0" err="1"/>
              <a:t>Obiedat</a:t>
            </a:r>
            <a:r>
              <a:rPr lang="en-US" sz="1400" dirty="0"/>
              <a:t> 0221882</a:t>
            </a:r>
          </a:p>
          <a:p>
            <a:pPr marL="285750" indent="-285750" algn="l">
              <a:buFont typeface="Arial" panose="020B0604020202020204" pitchFamily="34" charset="0"/>
              <a:buChar char="•"/>
            </a:pPr>
            <a:r>
              <a:rPr lang="en-US" sz="1400" dirty="0"/>
              <a:t>Alaa Al-</a:t>
            </a:r>
            <a:r>
              <a:rPr lang="en-US" sz="1400" dirty="0" err="1"/>
              <a:t>Odat</a:t>
            </a:r>
            <a:r>
              <a:rPr lang="en-US" sz="1400" dirty="0"/>
              <a:t> 2213116</a:t>
            </a:r>
          </a:p>
          <a:p>
            <a:pPr algn="l"/>
            <a:endParaRPr lang="en-US" sz="1400" dirty="0"/>
          </a:p>
        </p:txBody>
      </p:sp>
      <p:sp>
        <p:nvSpPr>
          <p:cNvPr id="4" name="TextBox 3">
            <a:extLst>
              <a:ext uri="{FF2B5EF4-FFF2-40B4-BE49-F238E27FC236}">
                <a16:creationId xmlns:a16="http://schemas.microsoft.com/office/drawing/2014/main" id="{BF35A579-3374-5DF3-D4F1-7B9B74D3736D}"/>
              </a:ext>
            </a:extLst>
          </p:cNvPr>
          <p:cNvSpPr txBox="1"/>
          <p:nvPr/>
        </p:nvSpPr>
        <p:spPr>
          <a:xfrm>
            <a:off x="7492513" y="4332400"/>
            <a:ext cx="2073243" cy="738664"/>
          </a:xfrm>
          <a:prstGeom prst="rect">
            <a:avLst/>
          </a:prstGeom>
          <a:noFill/>
        </p:spPr>
        <p:txBody>
          <a:bodyPr wrap="square" rtlCol="0">
            <a:spAutoFit/>
          </a:bodyPr>
          <a:lstStyle/>
          <a:p>
            <a:r>
              <a:rPr lang="en-US" sz="1400" dirty="0"/>
              <a:t>Department of Artificial Intelligence / KASIT</a:t>
            </a:r>
            <a:br>
              <a:rPr lang="en-US" sz="1400" dirty="0"/>
            </a:br>
            <a:r>
              <a:rPr lang="en-US" sz="1400" dirty="0"/>
              <a:t>University of Jordan </a:t>
            </a:r>
          </a:p>
        </p:txBody>
      </p:sp>
      <p:sp>
        <p:nvSpPr>
          <p:cNvPr id="6" name="TextBox 5">
            <a:extLst>
              <a:ext uri="{FF2B5EF4-FFF2-40B4-BE49-F238E27FC236}">
                <a16:creationId xmlns:a16="http://schemas.microsoft.com/office/drawing/2014/main" id="{589522D6-4439-BA42-FC55-8E3AFBD5A149}"/>
              </a:ext>
            </a:extLst>
          </p:cNvPr>
          <p:cNvSpPr txBox="1"/>
          <p:nvPr/>
        </p:nvSpPr>
        <p:spPr>
          <a:xfrm>
            <a:off x="5321927" y="4332400"/>
            <a:ext cx="1548143" cy="800219"/>
          </a:xfrm>
          <a:prstGeom prst="rect">
            <a:avLst/>
          </a:prstGeom>
          <a:noFill/>
        </p:spPr>
        <p:txBody>
          <a:bodyPr wrap="square" rtlCol="0">
            <a:spAutoFit/>
          </a:bodyPr>
          <a:lstStyle/>
          <a:p>
            <a:r>
              <a:rPr lang="en-US" sz="1400" dirty="0"/>
              <a:t>Instructor:</a:t>
            </a:r>
            <a:br>
              <a:rPr lang="en-US" sz="1400" dirty="0"/>
            </a:br>
            <a:r>
              <a:rPr lang="en-US" sz="1400" dirty="0"/>
              <a:t>Dr. Ali Al-Rodan</a:t>
            </a:r>
          </a:p>
          <a:p>
            <a:endParaRPr lang="en-US" dirty="0"/>
          </a:p>
        </p:txBody>
      </p:sp>
      <p:pic>
        <p:nvPicPr>
          <p:cNvPr id="9" name="Picture 8">
            <a:extLst>
              <a:ext uri="{FF2B5EF4-FFF2-40B4-BE49-F238E27FC236}">
                <a16:creationId xmlns:a16="http://schemas.microsoft.com/office/drawing/2014/main" id="{4CAD4414-A3EF-AEF0-0032-FB2129A8A3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4001" y="5474961"/>
            <a:ext cx="2056152" cy="867833"/>
          </a:xfrm>
          <a:prstGeom prst="rect">
            <a:avLst/>
          </a:prstGeom>
        </p:spPr>
      </p:pic>
      <p:pic>
        <p:nvPicPr>
          <p:cNvPr id="11" name="Graphic 10">
            <a:extLst>
              <a:ext uri="{FF2B5EF4-FFF2-40B4-BE49-F238E27FC236}">
                <a16:creationId xmlns:a16="http://schemas.microsoft.com/office/drawing/2014/main" id="{75CB6361-9A0F-A70C-DC82-5E7D93D8603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9683" y="5485544"/>
            <a:ext cx="676275" cy="857250"/>
          </a:xfrm>
          <a:prstGeom prst="rect">
            <a:avLst/>
          </a:prstGeom>
        </p:spPr>
      </p:pic>
    </p:spTree>
    <p:extLst>
      <p:ext uri="{BB962C8B-B14F-4D97-AF65-F5344CB8AC3E}">
        <p14:creationId xmlns:p14="http://schemas.microsoft.com/office/powerpoint/2010/main" val="2046794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3A0DB-3000-25FB-EF1A-D1184358A81B}"/>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Project Overview</a:t>
            </a:r>
          </a:p>
        </p:txBody>
      </p:sp>
      <p:sp>
        <p:nvSpPr>
          <p:cNvPr id="3" name="Content Placeholder 2">
            <a:extLst>
              <a:ext uri="{FF2B5EF4-FFF2-40B4-BE49-F238E27FC236}">
                <a16:creationId xmlns:a16="http://schemas.microsoft.com/office/drawing/2014/main" id="{0BF6E99B-2588-6A14-D729-5A85AA46039E}"/>
              </a:ext>
            </a:extLst>
          </p:cNvPr>
          <p:cNvSpPr>
            <a:spLocks noGrp="1"/>
          </p:cNvSpPr>
          <p:nvPr>
            <p:ph idx="1"/>
          </p:nvPr>
        </p:nvSpPr>
        <p:spPr>
          <a:xfrm>
            <a:off x="4810259" y="649480"/>
            <a:ext cx="6555347" cy="5546047"/>
          </a:xfrm>
        </p:spPr>
        <p:txBody>
          <a:bodyPr anchor="ctr">
            <a:normAutofit/>
          </a:bodyPr>
          <a:lstStyle/>
          <a:p>
            <a:pPr marL="0" indent="0">
              <a:buNone/>
            </a:pPr>
            <a:r>
              <a:rPr lang="en-US" sz="1400" dirty="0"/>
              <a:t>The primary objective of this project is to evaluate the performance of various machine learning models on different types of datasets. By conducting a detailed comparison of these models, we aim to identify their advantages and disadvantages, ultimately determining the optimal model for each dataset type.</a:t>
            </a:r>
          </a:p>
          <a:p>
            <a:pPr marL="0" indent="0">
              <a:buNone/>
            </a:pPr>
            <a:endParaRPr lang="en-US" sz="1400" dirty="0"/>
          </a:p>
          <a:p>
            <a:pPr marL="0" indent="0">
              <a:buNone/>
            </a:pPr>
            <a:r>
              <a:rPr lang="en-US" sz="1400" b="1" dirty="0"/>
              <a:t>Classification Models</a:t>
            </a:r>
          </a:p>
          <a:p>
            <a:r>
              <a:rPr lang="en-US" sz="1400" dirty="0"/>
              <a:t>Naïve Bayes (NB): A probabilistic machine learning model based on Bayes Theorem, assuming independence between predictors, and is commonly used for classification tasks.</a:t>
            </a:r>
          </a:p>
          <a:p>
            <a:r>
              <a:rPr lang="en-US" sz="1400" dirty="0"/>
              <a:t>Support Vector Machine (SVM): A model that finds the hyperplane to separate data classes effectively.</a:t>
            </a:r>
          </a:p>
          <a:p>
            <a:r>
              <a:rPr lang="en-US" sz="1400" dirty="0"/>
              <a:t>Random Forest: An ensemble learning method using decision trees for robust classification.</a:t>
            </a:r>
          </a:p>
          <a:p>
            <a:pPr marL="0" indent="0">
              <a:buNone/>
            </a:pPr>
            <a:endParaRPr lang="en-US" sz="1400" dirty="0"/>
          </a:p>
          <a:p>
            <a:pPr marL="0" indent="0">
              <a:buNone/>
            </a:pPr>
            <a:r>
              <a:rPr lang="en-US" sz="1400" b="1" dirty="0"/>
              <a:t>Time-series Models</a:t>
            </a:r>
          </a:p>
          <a:p>
            <a:r>
              <a:rPr lang="en-US" sz="1400" dirty="0"/>
              <a:t>Echo State Network (ESN): A recurrent neural network using a fixed reservoir for time-series predictions.</a:t>
            </a:r>
          </a:p>
          <a:p>
            <a:r>
              <a:rPr lang="en-US" sz="1400" dirty="0"/>
              <a:t>Long Short-Term Memory (LSTM):  A type of RNN designed to capture long-term dependencies in sequential data.</a:t>
            </a:r>
          </a:p>
          <a:p>
            <a:r>
              <a:rPr lang="en-US" sz="1400" dirty="0"/>
              <a:t>Bi-Directional LSTM (Bi-LSTM): An LSTM variant that processes input data in both forward and backward directions for improved context understanding.</a:t>
            </a:r>
          </a:p>
        </p:txBody>
      </p:sp>
    </p:spTree>
    <p:extLst>
      <p:ext uri="{BB962C8B-B14F-4D97-AF65-F5344CB8AC3E}">
        <p14:creationId xmlns:p14="http://schemas.microsoft.com/office/powerpoint/2010/main" val="201455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0036F-3C92-F567-2113-64BE58F59593}"/>
              </a:ext>
            </a:extLst>
          </p:cNvPr>
          <p:cNvSpPr>
            <a:spLocks noGrp="1"/>
          </p:cNvSpPr>
          <p:nvPr>
            <p:ph type="title"/>
          </p:nvPr>
        </p:nvSpPr>
        <p:spPr/>
        <p:txBody>
          <a:bodyPr>
            <a:normAutofit/>
          </a:bodyPr>
          <a:lstStyle/>
          <a:p>
            <a:r>
              <a:rPr lang="en-US" sz="4000" dirty="0"/>
              <a:t>Datasets Description: Time-Series Data</a:t>
            </a:r>
          </a:p>
        </p:txBody>
      </p:sp>
      <p:sp>
        <p:nvSpPr>
          <p:cNvPr id="3" name="Content Placeholder 2">
            <a:extLst>
              <a:ext uri="{FF2B5EF4-FFF2-40B4-BE49-F238E27FC236}">
                <a16:creationId xmlns:a16="http://schemas.microsoft.com/office/drawing/2014/main" id="{9F94CFAC-28C1-BA03-03CC-67EFBAF45CE4}"/>
              </a:ext>
            </a:extLst>
          </p:cNvPr>
          <p:cNvSpPr>
            <a:spLocks noGrp="1"/>
          </p:cNvSpPr>
          <p:nvPr>
            <p:ph idx="1"/>
          </p:nvPr>
        </p:nvSpPr>
        <p:spPr/>
        <p:txBody>
          <a:bodyPr>
            <a:normAutofit/>
          </a:bodyPr>
          <a:lstStyle/>
          <a:p>
            <a:pPr marL="0" indent="0" algn="just">
              <a:buNone/>
            </a:pPr>
            <a:r>
              <a:rPr lang="en-US" sz="1600"/>
              <a:t>For the time-series analysis, we utilized the 'Bitcoin Historical Price (1H, 2017.8-2020.3)' dataset, sourced from Kaggle. This dataset contains hourly price and volume data for Bitcoin (BTC), the most popular cryptocurrency, spanning from August 2017 to March 2020. The primary objective of this dataset was to forecast the open price for subsequent time intervals.</a:t>
            </a:r>
          </a:p>
          <a:p>
            <a:pPr marL="0" indent="0">
              <a:buNone/>
            </a:pPr>
            <a:endParaRPr lang="en-US" sz="1800">
              <a:effectLst/>
              <a:latin typeface="Aptos" panose="020B0004020202020204" pitchFamily="34" charset="0"/>
              <a:ea typeface="Aptos" panose="020B0004020202020204" pitchFamily="34" charset="0"/>
              <a:cs typeface="Arial" panose="020B0604020202020204" pitchFamily="34" charset="0"/>
            </a:endParaRPr>
          </a:p>
          <a:p>
            <a:pPr marL="0" indent="0">
              <a:buNone/>
            </a:pPr>
            <a:r>
              <a:rPr lang="en-US" sz="1800" b="1">
                <a:latin typeface="Aptos" panose="020B0004020202020204" pitchFamily="34" charset="0"/>
                <a:cs typeface="Arial" panose="020B0604020202020204" pitchFamily="34" charset="0"/>
              </a:rPr>
              <a:t>Dataset attributes</a:t>
            </a:r>
          </a:p>
          <a:p>
            <a:r>
              <a:rPr lang="en-US" sz="1200" b="1"/>
              <a:t>Date</a:t>
            </a:r>
            <a:r>
              <a:rPr lang="en-US" sz="1200"/>
              <a:t>: Timestamps marking hourly intervals.</a:t>
            </a:r>
          </a:p>
          <a:p>
            <a:r>
              <a:rPr lang="en-US" sz="1200" b="1"/>
              <a:t>Open</a:t>
            </a:r>
            <a:r>
              <a:rPr lang="en-US" sz="1200"/>
              <a:t>: The initial price of Bitcoin at the beginning of each hour.</a:t>
            </a:r>
          </a:p>
          <a:p>
            <a:r>
              <a:rPr lang="en-US" sz="1200" b="1"/>
              <a:t>High</a:t>
            </a:r>
            <a:r>
              <a:rPr lang="en-US" sz="1200"/>
              <a:t>: The maximum price of Bitcoin within the hour.</a:t>
            </a:r>
          </a:p>
          <a:p>
            <a:r>
              <a:rPr lang="en-US" sz="1200" b="1"/>
              <a:t>Low</a:t>
            </a:r>
            <a:r>
              <a:rPr lang="en-US" sz="1200"/>
              <a:t>: The minimum price of Bitcoin within the hour.</a:t>
            </a:r>
          </a:p>
          <a:p>
            <a:r>
              <a:rPr lang="en-US" sz="1200" b="1"/>
              <a:t>Close</a:t>
            </a:r>
            <a:r>
              <a:rPr lang="en-US" sz="1200"/>
              <a:t>: The final price of Bitcoin at the end of the hour.</a:t>
            </a:r>
          </a:p>
          <a:p>
            <a:r>
              <a:rPr lang="en-US" sz="1200" b="1"/>
              <a:t>Vol</a:t>
            </a:r>
            <a:r>
              <a:rPr lang="en-US" sz="1200"/>
              <a:t>: The total traded volume of Bitcoin within the hour.</a:t>
            </a:r>
            <a:endParaRPr lang="en-US" sz="1200" dirty="0"/>
          </a:p>
        </p:txBody>
      </p:sp>
      <p:pic>
        <p:nvPicPr>
          <p:cNvPr id="5" name="Picture 4">
            <a:extLst>
              <a:ext uri="{FF2B5EF4-FFF2-40B4-BE49-F238E27FC236}">
                <a16:creationId xmlns:a16="http://schemas.microsoft.com/office/drawing/2014/main" id="{382478B2-5418-7648-4F98-B0567C720E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4740" y="3429000"/>
            <a:ext cx="5449060" cy="1448002"/>
          </a:xfrm>
          <a:prstGeom prst="rect">
            <a:avLst/>
          </a:prstGeom>
        </p:spPr>
      </p:pic>
    </p:spTree>
    <p:extLst>
      <p:ext uri="{BB962C8B-B14F-4D97-AF65-F5344CB8AC3E}">
        <p14:creationId xmlns:p14="http://schemas.microsoft.com/office/powerpoint/2010/main" val="2703383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74CD4-6150-2568-2C05-6E01D7784E3E}"/>
              </a:ext>
            </a:extLst>
          </p:cNvPr>
          <p:cNvSpPr>
            <a:spLocks noGrp="1"/>
          </p:cNvSpPr>
          <p:nvPr>
            <p:ph type="title"/>
          </p:nvPr>
        </p:nvSpPr>
        <p:spPr>
          <a:xfrm>
            <a:off x="838200" y="365126"/>
            <a:ext cx="10515600" cy="1173964"/>
          </a:xfrm>
        </p:spPr>
        <p:txBody>
          <a:bodyPr/>
          <a:lstStyle/>
          <a:p>
            <a:r>
              <a:rPr lang="en-US" dirty="0"/>
              <a:t>Time-series Preprocessing</a:t>
            </a:r>
          </a:p>
        </p:txBody>
      </p:sp>
      <p:sp>
        <p:nvSpPr>
          <p:cNvPr id="3" name="Content Placeholder 2">
            <a:extLst>
              <a:ext uri="{FF2B5EF4-FFF2-40B4-BE49-F238E27FC236}">
                <a16:creationId xmlns:a16="http://schemas.microsoft.com/office/drawing/2014/main" id="{EA5DFA5F-F765-DF36-F0A6-4CCBEFDCD83C}"/>
              </a:ext>
            </a:extLst>
          </p:cNvPr>
          <p:cNvSpPr>
            <a:spLocks noGrp="1"/>
          </p:cNvSpPr>
          <p:nvPr>
            <p:ph idx="1"/>
          </p:nvPr>
        </p:nvSpPr>
        <p:spPr>
          <a:xfrm>
            <a:off x="838200" y="1656784"/>
            <a:ext cx="6784818" cy="4520179"/>
          </a:xfrm>
        </p:spPr>
        <p:txBody>
          <a:bodyPr>
            <a:normAutofit/>
          </a:bodyPr>
          <a:lstStyle/>
          <a:p>
            <a:pPr algn="just"/>
            <a:r>
              <a:rPr lang="en-US" sz="1400" b="1" dirty="0"/>
              <a:t>Volume Column Removal:</a:t>
            </a:r>
          </a:p>
          <a:p>
            <a:pPr marL="0" indent="0" algn="just">
              <a:buNone/>
            </a:pPr>
            <a:r>
              <a:rPr lang="en-US" sz="1200" dirty="0"/>
              <a:t>The volume column was dropped as it was not relevant to the forecasting task, leading to improved model results.</a:t>
            </a:r>
          </a:p>
          <a:p>
            <a:pPr algn="just"/>
            <a:r>
              <a:rPr lang="en-US" sz="1400" b="1" dirty="0"/>
              <a:t>Date Column Transformation:</a:t>
            </a:r>
          </a:p>
          <a:p>
            <a:pPr marL="0" indent="0" algn="just">
              <a:buNone/>
            </a:pPr>
            <a:r>
              <a:rPr lang="en-US" sz="1200" dirty="0"/>
              <a:t>The date column was converted into a pandas datetime format for better data manipulation and indexing.</a:t>
            </a:r>
          </a:p>
          <a:p>
            <a:pPr algn="just"/>
            <a:r>
              <a:rPr lang="en-US" sz="1400" b="1" dirty="0"/>
              <a:t>Null Value Handling:</a:t>
            </a:r>
          </a:p>
          <a:p>
            <a:pPr marL="0" indent="0" algn="just">
              <a:buNone/>
            </a:pPr>
            <a:r>
              <a:rPr lang="en-US" sz="1200" dirty="0"/>
              <a:t>The dataset was checked for null values, and any rows or columns containing nulls were removed to avoid negative impacts on the data quality.</a:t>
            </a:r>
          </a:p>
          <a:p>
            <a:pPr algn="just"/>
            <a:r>
              <a:rPr lang="en-US" sz="1400" b="1" dirty="0"/>
              <a:t>Outlier Detection and Analysis:</a:t>
            </a:r>
          </a:p>
          <a:p>
            <a:pPr marL="0" indent="0" algn="just">
              <a:buNone/>
            </a:pPr>
            <a:r>
              <a:rPr lang="en-US" sz="1200" dirty="0"/>
              <a:t>Outliers were identified using the Interquartile Range (IQR) method, revealing approximately 550 outliers per column. Upon further inspection, it was found that these outliers corresponded to a natural price pump in late 2018, which was considered valid and retained in the dataset.</a:t>
            </a:r>
          </a:p>
          <a:p>
            <a:pPr algn="just"/>
            <a:r>
              <a:rPr lang="en-US" sz="1400" b="1" dirty="0"/>
              <a:t>Normalization:</a:t>
            </a:r>
          </a:p>
          <a:p>
            <a:pPr marL="0" indent="0" algn="just">
              <a:buNone/>
            </a:pPr>
            <a:r>
              <a:rPr lang="en-US" sz="1200" dirty="0"/>
              <a:t>The data was normalized using </a:t>
            </a:r>
            <a:r>
              <a:rPr lang="en-US" sz="1200" dirty="0" err="1"/>
              <a:t>StandardScaler</a:t>
            </a:r>
            <a:r>
              <a:rPr lang="en-US" sz="1200" dirty="0"/>
              <a:t>, which standardizes features by scaling them to have a mean of 0 and a standard deviation of 1. This step ensured that the data was ready for training.</a:t>
            </a:r>
          </a:p>
        </p:txBody>
      </p:sp>
      <p:pic>
        <p:nvPicPr>
          <p:cNvPr id="13" name="Picture 12">
            <a:extLst>
              <a:ext uri="{FF2B5EF4-FFF2-40B4-BE49-F238E27FC236}">
                <a16:creationId xmlns:a16="http://schemas.microsoft.com/office/drawing/2014/main" id="{87CF707F-D621-B0A4-5C48-D04A993319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9392" y="819232"/>
            <a:ext cx="1989543" cy="1675103"/>
          </a:xfrm>
          <a:prstGeom prst="rect">
            <a:avLst/>
          </a:prstGeom>
        </p:spPr>
      </p:pic>
      <p:pic>
        <p:nvPicPr>
          <p:cNvPr id="15" name="Picture 14">
            <a:extLst>
              <a:ext uri="{FF2B5EF4-FFF2-40B4-BE49-F238E27FC236}">
                <a16:creationId xmlns:a16="http://schemas.microsoft.com/office/drawing/2014/main" id="{87A59A9B-88B0-F77A-1048-A05001311D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59392" y="2766748"/>
            <a:ext cx="2451269" cy="1596918"/>
          </a:xfrm>
          <a:prstGeom prst="rect">
            <a:avLst/>
          </a:prstGeom>
        </p:spPr>
      </p:pic>
      <p:pic>
        <p:nvPicPr>
          <p:cNvPr id="17" name="Picture 16">
            <a:extLst>
              <a:ext uri="{FF2B5EF4-FFF2-40B4-BE49-F238E27FC236}">
                <a16:creationId xmlns:a16="http://schemas.microsoft.com/office/drawing/2014/main" id="{8CEC6154-3133-3AA5-3379-F2A6D5ACC5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85518" y="4565556"/>
            <a:ext cx="2451268" cy="1611407"/>
          </a:xfrm>
          <a:prstGeom prst="rect">
            <a:avLst/>
          </a:prstGeom>
        </p:spPr>
      </p:pic>
    </p:spTree>
    <p:extLst>
      <p:ext uri="{BB962C8B-B14F-4D97-AF65-F5344CB8AC3E}">
        <p14:creationId xmlns:p14="http://schemas.microsoft.com/office/powerpoint/2010/main" val="2596965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B367707-670D-42E8-3A98-CC1FA6A3B43A}"/>
              </a:ext>
            </a:extLst>
          </p:cNvPr>
          <p:cNvSpPr>
            <a:spLocks noGrp="1"/>
          </p:cNvSpPr>
          <p:nvPr>
            <p:ph type="title"/>
          </p:nvPr>
        </p:nvSpPr>
        <p:spPr>
          <a:xfrm>
            <a:off x="1137034" y="609597"/>
            <a:ext cx="9392421" cy="1330841"/>
          </a:xfrm>
        </p:spPr>
        <p:txBody>
          <a:bodyPr>
            <a:normAutofit/>
          </a:bodyPr>
          <a:lstStyle/>
          <a:p>
            <a:r>
              <a:rPr lang="en-US"/>
              <a:t>Datasets Description: Classification Data</a:t>
            </a:r>
            <a:endParaRPr lang="en-US" dirty="0"/>
          </a:p>
        </p:txBody>
      </p:sp>
      <p:sp>
        <p:nvSpPr>
          <p:cNvPr id="3" name="Content Placeholder 2">
            <a:extLst>
              <a:ext uri="{FF2B5EF4-FFF2-40B4-BE49-F238E27FC236}">
                <a16:creationId xmlns:a16="http://schemas.microsoft.com/office/drawing/2014/main" id="{C089922A-CC49-A703-AF5F-07DB76C752DC}"/>
              </a:ext>
            </a:extLst>
          </p:cNvPr>
          <p:cNvSpPr>
            <a:spLocks noGrp="1"/>
          </p:cNvSpPr>
          <p:nvPr>
            <p:ph idx="1"/>
          </p:nvPr>
        </p:nvSpPr>
        <p:spPr>
          <a:xfrm>
            <a:off x="1137034" y="2198362"/>
            <a:ext cx="4958966" cy="3917773"/>
          </a:xfrm>
        </p:spPr>
        <p:txBody>
          <a:bodyPr>
            <a:normAutofit/>
          </a:bodyPr>
          <a:lstStyle/>
          <a:p>
            <a:pPr algn="just"/>
            <a:r>
              <a:rPr lang="en-US" sz="2000">
                <a:latin typeface="Calibri" panose="020F0502020204030204" pitchFamily="34" charset="0"/>
                <a:ea typeface="Calibri" panose="020F0502020204030204" pitchFamily="34" charset="0"/>
                <a:cs typeface="Arial" panose="020B0604020202020204" pitchFamily="34" charset="0"/>
              </a:rPr>
              <a:t>About the dataset: </a:t>
            </a:r>
            <a:r>
              <a:rPr lang="en-GB" sz="2000" b="0" i="0">
                <a:effectLst/>
                <a:latin typeface="Inter"/>
              </a:rPr>
              <a:t>This data set dates from 1988 and consists of four databases: Cleveland, Hungary, Switzerland, and Long Beach V. It contains 76 attributes, including the predicted attribute, but all published experiments refer to using a subset of 14 of them. The "target" field refers to the presence of heart disease in the patient. It is integer valued 0 = no disease and 1 = disease</a:t>
            </a:r>
          </a:p>
          <a:p>
            <a:endParaRPr lang="en-US" sz="2000" dirty="0"/>
          </a:p>
        </p:txBody>
      </p:sp>
      <p:pic>
        <p:nvPicPr>
          <p:cNvPr id="4" name="Picture 3">
            <a:extLst>
              <a:ext uri="{FF2B5EF4-FFF2-40B4-BE49-F238E27FC236}">
                <a16:creationId xmlns:a16="http://schemas.microsoft.com/office/drawing/2014/main" id="{52F1CE01-3E68-FDC6-F18F-439DC893F952}"/>
              </a:ext>
            </a:extLst>
          </p:cNvPr>
          <p:cNvPicPr>
            <a:picLocks noChangeAspect="1"/>
          </p:cNvPicPr>
          <p:nvPr/>
        </p:nvPicPr>
        <p:blipFill>
          <a:blip r:embed="rId2"/>
          <a:stretch>
            <a:fillRect/>
          </a:stretch>
        </p:blipFill>
        <p:spPr>
          <a:xfrm>
            <a:off x="6841287" y="2198362"/>
            <a:ext cx="4788505" cy="2561849"/>
          </a:xfrm>
          <a:prstGeom prst="rect">
            <a:avLst/>
          </a:prstGeom>
        </p:spPr>
      </p:pic>
      <p:sp>
        <p:nvSpPr>
          <p:cNvPr id="22" name="Freeform: Shape 21">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592434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CC834-C771-D97E-2D70-955647910BFC}"/>
              </a:ext>
            </a:extLst>
          </p:cNvPr>
          <p:cNvSpPr>
            <a:spLocks noGrp="1"/>
          </p:cNvSpPr>
          <p:nvPr>
            <p:ph type="title"/>
          </p:nvPr>
        </p:nvSpPr>
        <p:spPr/>
        <p:txBody>
          <a:bodyPr/>
          <a:lstStyle/>
          <a:p>
            <a:r>
              <a:rPr lang="en-US" dirty="0"/>
              <a:t>Methodology (Time-series)</a:t>
            </a:r>
          </a:p>
        </p:txBody>
      </p:sp>
      <p:sp>
        <p:nvSpPr>
          <p:cNvPr id="3" name="Content Placeholder 2">
            <a:extLst>
              <a:ext uri="{FF2B5EF4-FFF2-40B4-BE49-F238E27FC236}">
                <a16:creationId xmlns:a16="http://schemas.microsoft.com/office/drawing/2014/main" id="{16A1DC23-753B-66C3-C135-73EFB8E5EB67}"/>
              </a:ext>
            </a:extLst>
          </p:cNvPr>
          <p:cNvSpPr>
            <a:spLocks noGrp="1"/>
          </p:cNvSpPr>
          <p:nvPr>
            <p:ph idx="1"/>
          </p:nvPr>
        </p:nvSpPr>
        <p:spPr>
          <a:xfrm>
            <a:off x="838200" y="2827141"/>
            <a:ext cx="4219575" cy="3349822"/>
          </a:xfrm>
        </p:spPr>
        <p:txBody>
          <a:bodyPr numCol="2">
            <a:normAutofit/>
          </a:bodyPr>
          <a:lstStyle/>
          <a:p>
            <a:r>
              <a:rPr lang="en-US" sz="1500" b="1" dirty="0"/>
              <a:t>Echo State Network (ESN):</a:t>
            </a:r>
          </a:p>
          <a:p>
            <a:pPr marL="0" indent="0">
              <a:buNone/>
            </a:pPr>
            <a:r>
              <a:rPr lang="en-US" sz="1400" b="1" dirty="0"/>
              <a:t>Model Architecture:</a:t>
            </a:r>
          </a:p>
          <a:p>
            <a:pPr marL="0" indent="0">
              <a:buNone/>
            </a:pPr>
            <a:r>
              <a:rPr lang="en-US" sz="1400" u="sng" dirty="0"/>
              <a:t>Reservoir</a:t>
            </a:r>
            <a:r>
              <a:rPr lang="en-US" sz="1400" dirty="0"/>
              <a:t>: Contained 40 neurons with randomly initialized weights.</a:t>
            </a:r>
          </a:p>
          <a:p>
            <a:pPr marL="0" indent="0">
              <a:buNone/>
            </a:pPr>
            <a:r>
              <a:rPr lang="en-US" sz="1400" u="sng" dirty="0"/>
              <a:t>Readout Layer</a:t>
            </a:r>
            <a:r>
              <a:rPr lang="en-US" sz="1400" dirty="0"/>
              <a:t>: Ridge regression was used for training the output layer.</a:t>
            </a:r>
          </a:p>
          <a:p>
            <a:pPr marL="0" indent="0">
              <a:buNone/>
            </a:pPr>
            <a:r>
              <a:rPr lang="en-US" sz="1400" u="sng" dirty="0"/>
              <a:t>Sequence Length</a:t>
            </a:r>
            <a:r>
              <a:rPr lang="en-US" sz="1400" dirty="0"/>
              <a:t>: 50 time steps were used for creating input-output pairs.</a:t>
            </a:r>
          </a:p>
          <a:p>
            <a:pPr marL="0" indent="0">
              <a:buNone/>
            </a:pPr>
            <a:endParaRPr lang="en-US" sz="1400" dirty="0"/>
          </a:p>
          <a:p>
            <a:pPr marL="0" indent="0">
              <a:buNone/>
            </a:pPr>
            <a:r>
              <a:rPr lang="en-US" sz="1400" dirty="0"/>
              <a:t>Hyperparameters:</a:t>
            </a:r>
          </a:p>
          <a:p>
            <a:pPr marL="0" indent="0">
              <a:buNone/>
            </a:pPr>
            <a:r>
              <a:rPr lang="en-US" sz="1400" u="sng" dirty="0"/>
              <a:t>Reservoir size</a:t>
            </a:r>
            <a:r>
              <a:rPr lang="en-US" sz="1400" dirty="0"/>
              <a:t>: 40 neurons.</a:t>
            </a:r>
          </a:p>
          <a:p>
            <a:pPr marL="0" indent="0">
              <a:buNone/>
            </a:pPr>
            <a:r>
              <a:rPr lang="en-US" sz="1400" u="sng" dirty="0"/>
              <a:t>Learning rate (</a:t>
            </a:r>
            <a:r>
              <a:rPr lang="en-US" sz="1400" u="sng" dirty="0" err="1"/>
              <a:t>lr</a:t>
            </a:r>
            <a:r>
              <a:rPr lang="en-US" sz="1400" u="sng" dirty="0"/>
              <a:t>)</a:t>
            </a:r>
            <a:r>
              <a:rPr lang="en-US" sz="1400" dirty="0"/>
              <a:t>: 0.5.</a:t>
            </a:r>
          </a:p>
          <a:p>
            <a:pPr marL="0" indent="0">
              <a:buNone/>
            </a:pPr>
            <a:r>
              <a:rPr lang="en-US" sz="1400" u="sng" dirty="0"/>
              <a:t>Sparsity (</a:t>
            </a:r>
            <a:r>
              <a:rPr lang="en-US" sz="1400" u="sng" dirty="0" err="1"/>
              <a:t>sn</a:t>
            </a:r>
            <a:r>
              <a:rPr lang="en-US" sz="1400" u="sng" dirty="0"/>
              <a:t>)</a:t>
            </a:r>
            <a:r>
              <a:rPr lang="en-US" sz="1400" dirty="0"/>
              <a:t>: 0.25.</a:t>
            </a:r>
          </a:p>
          <a:p>
            <a:pPr marL="0" indent="0">
              <a:buNone/>
            </a:pPr>
            <a:r>
              <a:rPr lang="en-US" sz="1400" dirty="0"/>
              <a:t>Ridge regularization: 1×10−61 \times 10^{-6}.</a:t>
            </a:r>
          </a:p>
          <a:p>
            <a:endParaRPr lang="en-US" sz="1400" dirty="0"/>
          </a:p>
        </p:txBody>
      </p:sp>
      <p:sp>
        <p:nvSpPr>
          <p:cNvPr id="6" name="TextBox 5">
            <a:extLst>
              <a:ext uri="{FF2B5EF4-FFF2-40B4-BE49-F238E27FC236}">
                <a16:creationId xmlns:a16="http://schemas.microsoft.com/office/drawing/2014/main" id="{B1798E06-5664-FF04-1A2C-DC3A6C1F74AA}"/>
              </a:ext>
            </a:extLst>
          </p:cNvPr>
          <p:cNvSpPr txBox="1"/>
          <p:nvPr/>
        </p:nvSpPr>
        <p:spPr>
          <a:xfrm>
            <a:off x="5629275" y="2782929"/>
            <a:ext cx="4019305" cy="4016484"/>
          </a:xfrm>
          <a:prstGeom prst="rect">
            <a:avLst/>
          </a:prstGeom>
          <a:noFill/>
        </p:spPr>
        <p:txBody>
          <a:bodyPr wrap="square" numCol="2" rtlCol="0">
            <a:spAutoFit/>
          </a:bodyPr>
          <a:lstStyle/>
          <a:p>
            <a:pPr marL="285750" indent="-285750">
              <a:buFont typeface="Arial" panose="020B0604020202020204" pitchFamily="34" charset="0"/>
              <a:buChar char="•"/>
            </a:pPr>
            <a:r>
              <a:rPr lang="en-US" sz="1600" b="1" dirty="0"/>
              <a:t>Long Short-Term Memory (LSTM) &amp; (Bi-LSTM):</a:t>
            </a:r>
          </a:p>
          <a:p>
            <a:endParaRPr lang="en-US" sz="1400" b="1" dirty="0"/>
          </a:p>
          <a:p>
            <a:r>
              <a:rPr lang="en-US" sz="1400" b="1" dirty="0"/>
              <a:t>Model Architecture:</a:t>
            </a:r>
          </a:p>
          <a:p>
            <a:endParaRPr lang="en-US" sz="1400" b="1" dirty="0"/>
          </a:p>
          <a:p>
            <a:r>
              <a:rPr lang="en-US" sz="1400" u="sng" dirty="0"/>
              <a:t>Input Layer:</a:t>
            </a:r>
          </a:p>
          <a:p>
            <a:r>
              <a:rPr lang="en-US" sz="1400" dirty="0"/>
              <a:t>Shape: (14, 4)</a:t>
            </a:r>
          </a:p>
          <a:p>
            <a:endParaRPr lang="en-US" sz="1400" dirty="0"/>
          </a:p>
          <a:p>
            <a:r>
              <a:rPr lang="en-US" sz="1400" u="sng" dirty="0"/>
              <a:t>LSTM Layer:</a:t>
            </a:r>
          </a:p>
          <a:p>
            <a:r>
              <a:rPr lang="en-US" sz="1400" dirty="0"/>
              <a:t>Units: 40</a:t>
            </a:r>
          </a:p>
          <a:p>
            <a:endParaRPr lang="en-US" sz="1400" dirty="0"/>
          </a:p>
          <a:p>
            <a:r>
              <a:rPr lang="en-US" sz="1400" u="sng" dirty="0"/>
              <a:t>Dense Layer:</a:t>
            </a:r>
          </a:p>
          <a:p>
            <a:r>
              <a:rPr lang="en-US" sz="1400" dirty="0"/>
              <a:t>Units: 1</a:t>
            </a:r>
          </a:p>
          <a:p>
            <a:r>
              <a:rPr lang="en-US" sz="1400" u="sng" dirty="0"/>
              <a:t>Activation</a:t>
            </a:r>
            <a:r>
              <a:rPr lang="en-US" sz="1400" dirty="0"/>
              <a:t>: Linear</a:t>
            </a:r>
          </a:p>
          <a:p>
            <a:endParaRPr lang="en-US" sz="1200" dirty="0"/>
          </a:p>
          <a:p>
            <a:endParaRPr lang="en-US" sz="1200" dirty="0"/>
          </a:p>
          <a:p>
            <a:endParaRPr lang="en-US" sz="1200" dirty="0"/>
          </a:p>
          <a:p>
            <a:endParaRPr lang="en-US" sz="1200" dirty="0"/>
          </a:p>
          <a:p>
            <a:endParaRPr lang="en-US" sz="1200" dirty="0"/>
          </a:p>
          <a:p>
            <a:endParaRPr lang="en-US" sz="1200" dirty="0"/>
          </a:p>
          <a:p>
            <a:r>
              <a:rPr lang="en-US" sz="1400" dirty="0"/>
              <a:t>Hyperparameters:</a:t>
            </a:r>
            <a:br>
              <a:rPr lang="en-US" sz="1400" dirty="0"/>
            </a:br>
            <a:endParaRPr lang="en-US" sz="1400" dirty="0"/>
          </a:p>
          <a:p>
            <a:r>
              <a:rPr lang="en-US" sz="1400" u="sng" dirty="0"/>
              <a:t>Input Shape</a:t>
            </a:r>
            <a:r>
              <a:rPr lang="en-US" sz="1400" dirty="0"/>
              <a:t>: (14, 4)</a:t>
            </a:r>
          </a:p>
          <a:p>
            <a:r>
              <a:rPr lang="en-US" sz="1400" u="sng" dirty="0"/>
              <a:t>LSTM Units: </a:t>
            </a:r>
            <a:r>
              <a:rPr lang="en-US" sz="1400" dirty="0"/>
              <a:t>40</a:t>
            </a:r>
          </a:p>
          <a:p>
            <a:r>
              <a:rPr lang="en-US" sz="1400" u="sng" dirty="0"/>
              <a:t>Dense Units</a:t>
            </a:r>
            <a:r>
              <a:rPr lang="en-US" sz="1400" dirty="0"/>
              <a:t>: 1</a:t>
            </a:r>
          </a:p>
          <a:p>
            <a:r>
              <a:rPr lang="en-US" sz="1400" u="sng" dirty="0"/>
              <a:t>Activation Function: </a:t>
            </a:r>
            <a:r>
              <a:rPr lang="en-US" sz="1400" dirty="0"/>
              <a:t>Linear</a:t>
            </a:r>
          </a:p>
          <a:p>
            <a:endParaRPr lang="en-US" sz="1400" dirty="0"/>
          </a:p>
          <a:p>
            <a:r>
              <a:rPr lang="en-US" sz="1400" u="sng" dirty="0" err="1"/>
              <a:t>Ephocs</a:t>
            </a:r>
            <a:r>
              <a:rPr lang="en-US" sz="1400" u="sng" dirty="0"/>
              <a:t>:</a:t>
            </a:r>
            <a:r>
              <a:rPr lang="en-US" sz="1400" dirty="0"/>
              <a:t> 10</a:t>
            </a:r>
          </a:p>
          <a:p>
            <a:endParaRPr lang="en-US" sz="1400" b="1" dirty="0"/>
          </a:p>
        </p:txBody>
      </p:sp>
      <p:sp>
        <p:nvSpPr>
          <p:cNvPr id="7" name="TextBox 6">
            <a:extLst>
              <a:ext uri="{FF2B5EF4-FFF2-40B4-BE49-F238E27FC236}">
                <a16:creationId xmlns:a16="http://schemas.microsoft.com/office/drawing/2014/main" id="{C3966CE6-903A-5296-D9FF-594310B886C6}"/>
              </a:ext>
            </a:extLst>
          </p:cNvPr>
          <p:cNvSpPr txBox="1"/>
          <p:nvPr/>
        </p:nvSpPr>
        <p:spPr>
          <a:xfrm>
            <a:off x="838200" y="1600200"/>
            <a:ext cx="3724275" cy="1738938"/>
          </a:xfrm>
          <a:prstGeom prst="rect">
            <a:avLst/>
          </a:prstGeom>
          <a:noFill/>
        </p:spPr>
        <p:txBody>
          <a:bodyPr wrap="square" numCol="1" rtlCol="0">
            <a:spAutoFit/>
          </a:bodyPr>
          <a:lstStyle/>
          <a:p>
            <a:r>
              <a:rPr lang="en-US" sz="1500" dirty="0"/>
              <a:t>The dataset was divided into three subsets:</a:t>
            </a:r>
          </a:p>
          <a:p>
            <a:pPr marL="285750" indent="-285750">
              <a:buFont typeface="Arial" panose="020B0604020202020204" pitchFamily="34" charset="0"/>
              <a:buChar char="•"/>
            </a:pPr>
            <a:r>
              <a:rPr lang="en-US" sz="1400" b="1" dirty="0"/>
              <a:t>Training Set</a:t>
            </a:r>
            <a:r>
              <a:rPr lang="en-US" sz="1400" dirty="0"/>
              <a:t>: 60% of the data</a:t>
            </a:r>
          </a:p>
          <a:p>
            <a:pPr marL="285750" indent="-285750">
              <a:buFont typeface="Arial" panose="020B0604020202020204" pitchFamily="34" charset="0"/>
              <a:buChar char="•"/>
            </a:pPr>
            <a:r>
              <a:rPr lang="en-US" sz="1400" b="1" dirty="0"/>
              <a:t>Validation Set: </a:t>
            </a:r>
            <a:r>
              <a:rPr lang="en-US" sz="1400" dirty="0"/>
              <a:t>9.5% of the data</a:t>
            </a:r>
          </a:p>
          <a:p>
            <a:pPr marL="285750" indent="-285750">
              <a:buFont typeface="Arial" panose="020B0604020202020204" pitchFamily="34" charset="0"/>
              <a:buChar char="•"/>
            </a:pPr>
            <a:r>
              <a:rPr lang="en-US" sz="1400" b="1" dirty="0"/>
              <a:t>Testing Set: </a:t>
            </a:r>
            <a:r>
              <a:rPr lang="en-US" sz="1400" dirty="0"/>
              <a:t>31.5% of the data</a:t>
            </a:r>
          </a:p>
          <a:p>
            <a:endParaRPr lang="en-US" sz="1400" dirty="0"/>
          </a:p>
          <a:p>
            <a:endParaRPr lang="en-US" dirty="0"/>
          </a:p>
          <a:p>
            <a:endParaRPr lang="en-US" dirty="0"/>
          </a:p>
        </p:txBody>
      </p:sp>
      <p:sp>
        <p:nvSpPr>
          <p:cNvPr id="8" name="TextBox 7">
            <a:extLst>
              <a:ext uri="{FF2B5EF4-FFF2-40B4-BE49-F238E27FC236}">
                <a16:creationId xmlns:a16="http://schemas.microsoft.com/office/drawing/2014/main" id="{BAA6C5DB-8C8F-60B9-E041-E62802A00671}"/>
              </a:ext>
            </a:extLst>
          </p:cNvPr>
          <p:cNvSpPr txBox="1"/>
          <p:nvPr/>
        </p:nvSpPr>
        <p:spPr>
          <a:xfrm>
            <a:off x="4962524" y="1597819"/>
            <a:ext cx="6276975" cy="1015663"/>
          </a:xfrm>
          <a:prstGeom prst="rect">
            <a:avLst/>
          </a:prstGeom>
          <a:noFill/>
        </p:spPr>
        <p:txBody>
          <a:bodyPr wrap="square" rtlCol="0">
            <a:spAutoFit/>
          </a:bodyPr>
          <a:lstStyle/>
          <a:p>
            <a:pPr algn="just"/>
            <a:r>
              <a:rPr lang="en-US" sz="1200" dirty="0"/>
              <a:t>This split ratio was chosen as it provided the most efficient balance for our models, minimizing both underfitting and overfitting. Initially, we experimented with a split ratio of 70% training, 10% validation, and 20% testing, but this configuration resulted in suboptimal Mean Squared Error (MSE) values. Adjusting to the current split significantly improved the model's performance.</a:t>
            </a:r>
          </a:p>
        </p:txBody>
      </p:sp>
    </p:spTree>
    <p:extLst>
      <p:ext uri="{BB962C8B-B14F-4D97-AF65-F5344CB8AC3E}">
        <p14:creationId xmlns:p14="http://schemas.microsoft.com/office/powerpoint/2010/main" val="3845367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8D27C-8574-8EC2-7B8C-C9D7A309ED31}"/>
              </a:ext>
            </a:extLst>
          </p:cNvPr>
          <p:cNvSpPr>
            <a:spLocks noGrp="1"/>
          </p:cNvSpPr>
          <p:nvPr>
            <p:ph type="title"/>
          </p:nvPr>
        </p:nvSpPr>
        <p:spPr/>
        <p:txBody>
          <a:bodyPr/>
          <a:lstStyle/>
          <a:p>
            <a:r>
              <a:rPr lang="en-US" dirty="0"/>
              <a:t>Methodology (Classification)</a:t>
            </a:r>
          </a:p>
        </p:txBody>
      </p:sp>
      <p:sp>
        <p:nvSpPr>
          <p:cNvPr id="3" name="Content Placeholder 2">
            <a:extLst>
              <a:ext uri="{FF2B5EF4-FFF2-40B4-BE49-F238E27FC236}">
                <a16:creationId xmlns:a16="http://schemas.microsoft.com/office/drawing/2014/main" id="{EC20FF23-262E-84E7-5426-92DE0C0F93EF}"/>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Aptos" panose="02110004020202020204"/>
                <a:ea typeface="+mn-ea"/>
                <a:cs typeface="+mn-cs"/>
              </a:rPr>
              <a:t>Data preparation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1- load the dataset: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2- see if there is any null or missing values:                                                                    we found that there is no null or missing values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3- understand the data: from the plot we can see that </a:t>
            </a:r>
            <a:r>
              <a:rPr kumimoji="0" lang="en-GB" sz="1800" b="0" i="0" u="none" strike="noStrike" kern="1200" cap="none" spc="0" normalizeH="0" baseline="0" noProof="0" dirty="0">
                <a:ln>
                  <a:noFill/>
                </a:ln>
                <a:solidFill>
                  <a:srgbClr val="000000"/>
                </a:solidFill>
                <a:effectLst/>
                <a:uLnTx/>
                <a:uFillTx/>
                <a:latin typeface="Aptos (Body)"/>
                <a:ea typeface="+mn-ea"/>
                <a:cs typeface="+mn-cs"/>
              </a:rPr>
              <a:t>There are approximately the same number of people with and without heart disease and that Most patients are between 50-65 years old</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000000"/>
                </a:solidFill>
                <a:effectLst/>
                <a:uLnTx/>
                <a:uFillTx/>
                <a:latin typeface="Aptos (Body)"/>
                <a:ea typeface="+mn-ea"/>
                <a:cs typeface="+mn-cs"/>
              </a:rPr>
              <a:t>Disease (target=1) is more prevalent in middle-aged groups (50-60)</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000000"/>
                </a:solidFill>
                <a:effectLst/>
                <a:uLnTx/>
                <a:uFillTx/>
                <a:latin typeface="Aptos (Body)"/>
                <a:ea typeface="+mn-ea"/>
                <a:cs typeface="+mn-cs"/>
              </a:rPr>
              <a:t>Very few cases below 35 or above 75 years</a:t>
            </a:r>
          </a:p>
          <a:p>
            <a:endParaRPr lang="en-US" dirty="0"/>
          </a:p>
        </p:txBody>
      </p:sp>
      <p:pic>
        <p:nvPicPr>
          <p:cNvPr id="4" name="Picture 3">
            <a:extLst>
              <a:ext uri="{FF2B5EF4-FFF2-40B4-BE49-F238E27FC236}">
                <a16:creationId xmlns:a16="http://schemas.microsoft.com/office/drawing/2014/main" id="{F3329E46-3B6D-4E56-5418-C4671EF641B1}"/>
              </a:ext>
            </a:extLst>
          </p:cNvPr>
          <p:cNvPicPr>
            <a:picLocks noChangeAspect="1"/>
          </p:cNvPicPr>
          <p:nvPr/>
        </p:nvPicPr>
        <p:blipFill>
          <a:blip r:embed="rId2"/>
          <a:stretch>
            <a:fillRect/>
          </a:stretch>
        </p:blipFill>
        <p:spPr>
          <a:xfrm>
            <a:off x="3181651" y="2312980"/>
            <a:ext cx="3444538" cy="350550"/>
          </a:xfrm>
          <a:prstGeom prst="rect">
            <a:avLst/>
          </a:prstGeom>
        </p:spPr>
      </p:pic>
      <p:pic>
        <p:nvPicPr>
          <p:cNvPr id="5" name="Picture 4">
            <a:extLst>
              <a:ext uri="{FF2B5EF4-FFF2-40B4-BE49-F238E27FC236}">
                <a16:creationId xmlns:a16="http://schemas.microsoft.com/office/drawing/2014/main" id="{159B514A-D3D5-5472-263A-A438325727FB}"/>
              </a:ext>
            </a:extLst>
          </p:cNvPr>
          <p:cNvPicPr>
            <a:picLocks noChangeAspect="1"/>
          </p:cNvPicPr>
          <p:nvPr/>
        </p:nvPicPr>
        <p:blipFill>
          <a:blip r:embed="rId3"/>
          <a:stretch>
            <a:fillRect/>
          </a:stretch>
        </p:blipFill>
        <p:spPr>
          <a:xfrm>
            <a:off x="5292573" y="2751229"/>
            <a:ext cx="1333616" cy="281964"/>
          </a:xfrm>
          <a:prstGeom prst="rect">
            <a:avLst/>
          </a:prstGeom>
        </p:spPr>
      </p:pic>
      <p:pic>
        <p:nvPicPr>
          <p:cNvPr id="6" name="Picture 5">
            <a:extLst>
              <a:ext uri="{FF2B5EF4-FFF2-40B4-BE49-F238E27FC236}">
                <a16:creationId xmlns:a16="http://schemas.microsoft.com/office/drawing/2014/main" id="{037FA6DF-AAE2-1058-6D0A-A6D1EE26FDD0}"/>
              </a:ext>
            </a:extLst>
          </p:cNvPr>
          <p:cNvPicPr>
            <a:picLocks noChangeAspect="1"/>
          </p:cNvPicPr>
          <p:nvPr/>
        </p:nvPicPr>
        <p:blipFill>
          <a:blip r:embed="rId4"/>
          <a:stretch>
            <a:fillRect/>
          </a:stretch>
        </p:blipFill>
        <p:spPr>
          <a:xfrm>
            <a:off x="6863830" y="2751229"/>
            <a:ext cx="1417443" cy="281964"/>
          </a:xfrm>
          <a:prstGeom prst="rect">
            <a:avLst/>
          </a:prstGeom>
        </p:spPr>
      </p:pic>
      <p:pic>
        <p:nvPicPr>
          <p:cNvPr id="7" name="Picture 6">
            <a:extLst>
              <a:ext uri="{FF2B5EF4-FFF2-40B4-BE49-F238E27FC236}">
                <a16:creationId xmlns:a16="http://schemas.microsoft.com/office/drawing/2014/main" id="{77A74DF0-CD4B-6253-1D4C-B73ADAECE2AB}"/>
              </a:ext>
            </a:extLst>
          </p:cNvPr>
          <p:cNvPicPr>
            <a:picLocks noChangeAspect="1"/>
          </p:cNvPicPr>
          <p:nvPr/>
        </p:nvPicPr>
        <p:blipFill>
          <a:blip r:embed="rId5"/>
          <a:stretch>
            <a:fillRect/>
          </a:stretch>
        </p:blipFill>
        <p:spPr>
          <a:xfrm>
            <a:off x="8162876" y="3958797"/>
            <a:ext cx="3495724" cy="2120092"/>
          </a:xfrm>
          <a:prstGeom prst="rect">
            <a:avLst/>
          </a:prstGeom>
        </p:spPr>
      </p:pic>
      <p:pic>
        <p:nvPicPr>
          <p:cNvPr id="8" name="Picture 7">
            <a:extLst>
              <a:ext uri="{FF2B5EF4-FFF2-40B4-BE49-F238E27FC236}">
                <a16:creationId xmlns:a16="http://schemas.microsoft.com/office/drawing/2014/main" id="{224E5CC0-F718-63F6-39FA-CDBC8879DF26}"/>
              </a:ext>
            </a:extLst>
          </p:cNvPr>
          <p:cNvPicPr>
            <a:picLocks noChangeAspect="1"/>
          </p:cNvPicPr>
          <p:nvPr/>
        </p:nvPicPr>
        <p:blipFill>
          <a:blip r:embed="rId6"/>
          <a:stretch>
            <a:fillRect/>
          </a:stretch>
        </p:blipFill>
        <p:spPr>
          <a:xfrm>
            <a:off x="4661039" y="4741439"/>
            <a:ext cx="3620234" cy="2116561"/>
          </a:xfrm>
          <a:prstGeom prst="rect">
            <a:avLst/>
          </a:prstGeom>
        </p:spPr>
      </p:pic>
    </p:spTree>
    <p:extLst>
      <p:ext uri="{BB962C8B-B14F-4D97-AF65-F5344CB8AC3E}">
        <p14:creationId xmlns:p14="http://schemas.microsoft.com/office/powerpoint/2010/main" val="459672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43E7DC-5101-4E7C-ADB5-596311F53D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B8BCA7A-6464-4C53-A572-89B2B3C2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10976177 w 12192000"/>
              <a:gd name="connsiteY3" fmla="*/ 6858000 h 6858000"/>
              <a:gd name="connsiteX4" fmla="*/ 10997120 w 12192000"/>
              <a:gd name="connsiteY4" fmla="*/ 6851980 h 6858000"/>
              <a:gd name="connsiteX5" fmla="*/ 12094512 w 12192000"/>
              <a:gd name="connsiteY5" fmla="*/ 6315404 h 6858000"/>
              <a:gd name="connsiteX6" fmla="*/ 12191999 w 12192000"/>
              <a:gd name="connsiteY6" fmla="*/ 6239611 h 6858000"/>
              <a:gd name="connsiteX7" fmla="*/ 12191999 w 12192000"/>
              <a:gd name="connsiteY7" fmla="*/ 1104399 h 6858000"/>
              <a:gd name="connsiteX8" fmla="*/ 11979198 w 12192000"/>
              <a:gd name="connsiteY8" fmla="*/ 1051011 h 6858000"/>
              <a:gd name="connsiteX9" fmla="*/ 11742378 w 12192000"/>
              <a:gd name="connsiteY9" fmla="*/ 986227 h 6858000"/>
              <a:gd name="connsiteX10" fmla="*/ 12063968 w 12192000"/>
              <a:gd name="connsiteY10" fmla="*/ 729780 h 6858000"/>
              <a:gd name="connsiteX11" fmla="*/ 11572835 w 12192000"/>
              <a:gd name="connsiteY11" fmla="*/ 670151 h 6858000"/>
              <a:gd name="connsiteX12" fmla="*/ 11524844 w 12192000"/>
              <a:gd name="connsiteY12" fmla="*/ 671946 h 6858000"/>
              <a:gd name="connsiteX13" fmla="*/ 10560518 w 12192000"/>
              <a:gd name="connsiteY13" fmla="*/ 632492 h 6858000"/>
              <a:gd name="connsiteX14" fmla="*/ 9178169 w 12192000"/>
              <a:gd name="connsiteY14" fmla="*/ 501577 h 6858000"/>
              <a:gd name="connsiteX15" fmla="*/ 8033984 w 12192000"/>
              <a:gd name="connsiteY15" fmla="*/ 423121 h 6858000"/>
              <a:gd name="connsiteX16" fmla="*/ 6815795 w 12192000"/>
              <a:gd name="connsiteY16" fmla="*/ 270688 h 6858000"/>
              <a:gd name="connsiteX17" fmla="*/ 6757489 w 12192000"/>
              <a:gd name="connsiteY17" fmla="*/ 260880 h 6858000"/>
              <a:gd name="connsiteX18" fmla="*/ 6703217 w 12192000"/>
              <a:gd name="connsiteY18" fmla="*/ 290416 h 6858000"/>
              <a:gd name="connsiteX19" fmla="*/ 7005521 w 12192000"/>
              <a:gd name="connsiteY19" fmla="*/ 401154 h 6858000"/>
              <a:gd name="connsiteX20" fmla="*/ 6532779 w 12192000"/>
              <a:gd name="connsiteY20" fmla="*/ 342871 h 6858000"/>
              <a:gd name="connsiteX21" fmla="*/ 6524704 w 12192000"/>
              <a:gd name="connsiteY21" fmla="*/ 380529 h 6858000"/>
              <a:gd name="connsiteX22" fmla="*/ 7061587 w 12192000"/>
              <a:gd name="connsiteY22" fmla="*/ 523098 h 6858000"/>
              <a:gd name="connsiteX23" fmla="*/ 7013594 w 12192000"/>
              <a:gd name="connsiteY23" fmla="*/ 545070 h 6858000"/>
              <a:gd name="connsiteX24" fmla="*/ 6728335 w 12192000"/>
              <a:gd name="connsiteY24" fmla="*/ 489924 h 6858000"/>
              <a:gd name="connsiteX25" fmla="*/ 6670923 w 12192000"/>
              <a:gd name="connsiteY25" fmla="*/ 504270 h 6858000"/>
              <a:gd name="connsiteX26" fmla="*/ 6699180 w 12192000"/>
              <a:gd name="connsiteY26" fmla="*/ 571069 h 6858000"/>
              <a:gd name="connsiteX27" fmla="*/ 6822972 w 12192000"/>
              <a:gd name="connsiteY27" fmla="*/ 597073 h 6858000"/>
              <a:gd name="connsiteX28" fmla="*/ 7015839 w 12192000"/>
              <a:gd name="connsiteY28" fmla="*/ 753992 h 6858000"/>
              <a:gd name="connsiteX29" fmla="*/ 6723848 w 12192000"/>
              <a:gd name="connsiteY29" fmla="*/ 735160 h 6858000"/>
              <a:gd name="connsiteX30" fmla="*/ 6672268 w 12192000"/>
              <a:gd name="connsiteY30" fmla="*/ 773268 h 6858000"/>
              <a:gd name="connsiteX31" fmla="*/ 6652532 w 12192000"/>
              <a:gd name="connsiteY31" fmla="*/ 822585 h 6858000"/>
              <a:gd name="connsiteX32" fmla="*/ 6539505 w 12192000"/>
              <a:gd name="connsiteY32" fmla="*/ 863382 h 6858000"/>
              <a:gd name="connsiteX33" fmla="*/ 6717122 w 12192000"/>
              <a:gd name="connsiteY33" fmla="*/ 909114 h 6858000"/>
              <a:gd name="connsiteX34" fmla="*/ 6527397 w 12192000"/>
              <a:gd name="connsiteY34" fmla="*/ 909114 h 6858000"/>
              <a:gd name="connsiteX35" fmla="*/ 6309411 w 12192000"/>
              <a:gd name="connsiteY35" fmla="*/ 877731 h 6858000"/>
              <a:gd name="connsiteX36" fmla="*/ 6077077 w 12192000"/>
              <a:gd name="connsiteY36" fmla="*/ 887593 h 6858000"/>
              <a:gd name="connsiteX37" fmla="*/ 6076642 w 12192000"/>
              <a:gd name="connsiteY37" fmla="*/ 887537 h 6858000"/>
              <a:gd name="connsiteX38" fmla="*/ 6032390 w 12192000"/>
              <a:gd name="connsiteY38" fmla="*/ 898600 h 6858000"/>
              <a:gd name="connsiteX39" fmla="*/ 6008536 w 12192000"/>
              <a:gd name="connsiteY39" fmla="*/ 914503 h 6858000"/>
              <a:gd name="connsiteX40" fmla="*/ 5944926 w 12192000"/>
              <a:gd name="connsiteY40" fmla="*/ 922454 h 6858000"/>
              <a:gd name="connsiteX41" fmla="*/ 5929023 w 12192000"/>
              <a:gd name="connsiteY41" fmla="*/ 954259 h 6858000"/>
              <a:gd name="connsiteX42" fmla="*/ 5938641 w 12192000"/>
              <a:gd name="connsiteY42" fmla="*/ 983356 h 6858000"/>
              <a:gd name="connsiteX43" fmla="*/ 5941380 w 12192000"/>
              <a:gd name="connsiteY43" fmla="*/ 994243 h 6858000"/>
              <a:gd name="connsiteX44" fmla="*/ 6022639 w 12192000"/>
              <a:gd name="connsiteY44" fmla="*/ 1012399 h 6858000"/>
              <a:gd name="connsiteX45" fmla="*/ 6620687 w 12192000"/>
              <a:gd name="connsiteY45" fmla="*/ 1222947 h 6858000"/>
              <a:gd name="connsiteX46" fmla="*/ 6557895 w 12192000"/>
              <a:gd name="connsiteY46" fmla="*/ 1308577 h 6858000"/>
              <a:gd name="connsiteX47" fmla="*/ 6815348 w 12192000"/>
              <a:gd name="connsiteY47" fmla="*/ 1401831 h 6858000"/>
              <a:gd name="connsiteX48" fmla="*/ 6878591 w 12192000"/>
              <a:gd name="connsiteY48" fmla="*/ 1494187 h 6858000"/>
              <a:gd name="connsiteX49" fmla="*/ 6799202 w 12192000"/>
              <a:gd name="connsiteY49" fmla="*/ 1486118 h 6858000"/>
              <a:gd name="connsiteX50" fmla="*/ 6731027 w 12192000"/>
              <a:gd name="connsiteY50" fmla="*/ 1503602 h 6858000"/>
              <a:gd name="connsiteX51" fmla="*/ 6759282 w 12192000"/>
              <a:gd name="connsiteY51" fmla="*/ 1621067 h 6858000"/>
              <a:gd name="connsiteX52" fmla="*/ 7123035 w 12192000"/>
              <a:gd name="connsiteY52" fmla="*/ 1772603 h 6858000"/>
              <a:gd name="connsiteX53" fmla="*/ 7155777 w 12192000"/>
              <a:gd name="connsiteY53" fmla="*/ 1821919 h 6858000"/>
              <a:gd name="connsiteX54" fmla="*/ 7112270 w 12192000"/>
              <a:gd name="connsiteY54" fmla="*/ 1856890 h 6858000"/>
              <a:gd name="connsiteX55" fmla="*/ 6994755 w 12192000"/>
              <a:gd name="connsiteY55" fmla="*/ 1874821 h 6858000"/>
              <a:gd name="connsiteX56" fmla="*/ 7159364 w 12192000"/>
              <a:gd name="connsiteY56" fmla="*/ 2042948 h 6858000"/>
              <a:gd name="connsiteX57" fmla="*/ 7219467 w 12192000"/>
              <a:gd name="connsiteY57" fmla="*/ 2089573 h 6858000"/>
              <a:gd name="connsiteX58" fmla="*/ 7322179 w 12192000"/>
              <a:gd name="connsiteY58" fmla="*/ 2161756 h 6858000"/>
              <a:gd name="connsiteX59" fmla="*/ 7323974 w 12192000"/>
              <a:gd name="connsiteY59" fmla="*/ 2183724 h 6858000"/>
              <a:gd name="connsiteX60" fmla="*/ 7184034 w 12192000"/>
              <a:gd name="connsiteY60" fmla="*/ 2261285 h 6858000"/>
              <a:gd name="connsiteX61" fmla="*/ 6931516 w 12192000"/>
              <a:gd name="connsiteY61" fmla="*/ 2240212 h 6858000"/>
              <a:gd name="connsiteX62" fmla="*/ 7304686 w 12192000"/>
              <a:gd name="connsiteY62" fmla="*/ 2355883 h 6858000"/>
              <a:gd name="connsiteX63" fmla="*/ 6096813 w 12192000"/>
              <a:gd name="connsiteY63" fmla="*/ 2080160 h 6858000"/>
              <a:gd name="connsiteX64" fmla="*/ 6173959 w 12192000"/>
              <a:gd name="connsiteY64" fmla="*/ 2152340 h 6858000"/>
              <a:gd name="connsiteX65" fmla="*/ 6596469 w 12192000"/>
              <a:gd name="connsiteY65" fmla="*/ 2342432 h 6858000"/>
              <a:gd name="connsiteX66" fmla="*/ 6716224 w 12192000"/>
              <a:gd name="connsiteY66" fmla="*/ 2461690 h 6858000"/>
              <a:gd name="connsiteX67" fmla="*/ 6841810 w 12192000"/>
              <a:gd name="connsiteY67" fmla="*/ 2527594 h 6858000"/>
              <a:gd name="connsiteX68" fmla="*/ 7018080 w 12192000"/>
              <a:gd name="connsiteY68" fmla="*/ 2526249 h 6858000"/>
              <a:gd name="connsiteX69" fmla="*/ 7143217 w 12192000"/>
              <a:gd name="connsiteY69" fmla="*/ 2627573 h 6858000"/>
              <a:gd name="connsiteX70" fmla="*/ 7012697 w 12192000"/>
              <a:gd name="connsiteY70" fmla="*/ 2649094 h 6858000"/>
              <a:gd name="connsiteX71" fmla="*/ 6859752 w 12192000"/>
              <a:gd name="connsiteY71" fmla="*/ 2632505 h 6858000"/>
              <a:gd name="connsiteX72" fmla="*/ 6529636 w 12192000"/>
              <a:gd name="connsiteY72" fmla="*/ 2637883 h 6858000"/>
              <a:gd name="connsiteX73" fmla="*/ 6340360 w 12192000"/>
              <a:gd name="connsiteY73" fmla="*/ 2657610 h 6858000"/>
              <a:gd name="connsiteX74" fmla="*/ 5905294 w 12192000"/>
              <a:gd name="connsiteY74" fmla="*/ 2623984 h 6858000"/>
              <a:gd name="connsiteX75" fmla="*/ 5930860 w 12192000"/>
              <a:gd name="connsiteY75" fmla="*/ 2710066 h 6858000"/>
              <a:gd name="connsiteX76" fmla="*/ 5914710 w 12192000"/>
              <a:gd name="connsiteY76" fmla="*/ 2784935 h 6858000"/>
              <a:gd name="connsiteX77" fmla="*/ 5908433 w 12192000"/>
              <a:gd name="connsiteY77" fmla="*/ 2947683 h 6858000"/>
              <a:gd name="connsiteX78" fmla="*/ 5912470 w 12192000"/>
              <a:gd name="connsiteY78" fmla="*/ 2974134 h 6858000"/>
              <a:gd name="connsiteX79" fmla="*/ 5815141 w 12192000"/>
              <a:gd name="connsiteY79" fmla="*/ 2991171 h 6858000"/>
              <a:gd name="connsiteX80" fmla="*/ 6395082 w 12192000"/>
              <a:gd name="connsiteY80" fmla="*/ 3329661 h 6858000"/>
              <a:gd name="connsiteX81" fmla="*/ 6007557 w 12192000"/>
              <a:gd name="connsiteY81" fmla="*/ 3243581 h 6858000"/>
              <a:gd name="connsiteX82" fmla="*/ 5955079 w 12192000"/>
              <a:gd name="connsiteY82" fmla="*/ 3385704 h 6858000"/>
              <a:gd name="connsiteX83" fmla="*/ 6137180 w 12192000"/>
              <a:gd name="connsiteY83" fmla="*/ 3512133 h 6858000"/>
              <a:gd name="connsiteX84" fmla="*/ 6204457 w 12192000"/>
              <a:gd name="connsiteY84" fmla="*/ 3762302 h 6858000"/>
              <a:gd name="connsiteX85" fmla="*/ 6171716 w 12192000"/>
              <a:gd name="connsiteY85" fmla="*/ 3990952 h 6858000"/>
              <a:gd name="connsiteX86" fmla="*/ 6093674 w 12192000"/>
              <a:gd name="connsiteY86" fmla="*/ 4063580 h 6858000"/>
              <a:gd name="connsiteX87" fmla="*/ 5980645 w 12192000"/>
              <a:gd name="connsiteY87" fmla="*/ 4194045 h 6858000"/>
              <a:gd name="connsiteX88" fmla="*/ 5910676 w 12192000"/>
              <a:gd name="connsiteY88" fmla="*/ 4274743 h 6858000"/>
              <a:gd name="connsiteX89" fmla="*/ 5667577 w 12192000"/>
              <a:gd name="connsiteY89" fmla="*/ 4243362 h 6858000"/>
              <a:gd name="connsiteX90" fmla="*/ 5991859 w 12192000"/>
              <a:gd name="connsiteY90" fmla="*/ 4448252 h 6858000"/>
              <a:gd name="connsiteX91" fmla="*/ 5729024 w 12192000"/>
              <a:gd name="connsiteY91" fmla="*/ 4422695 h 6858000"/>
              <a:gd name="connsiteX92" fmla="*/ 5643357 w 12192000"/>
              <a:gd name="connsiteY92" fmla="*/ 4437041 h 6858000"/>
              <a:gd name="connsiteX93" fmla="*/ 5692243 w 12192000"/>
              <a:gd name="connsiteY93" fmla="*/ 4503395 h 6858000"/>
              <a:gd name="connsiteX94" fmla="*/ 5885111 w 12192000"/>
              <a:gd name="connsiteY94" fmla="*/ 4615926 h 6858000"/>
              <a:gd name="connsiteX95" fmla="*/ 6282503 w 12192000"/>
              <a:gd name="connsiteY95" fmla="*/ 4920793 h 6858000"/>
              <a:gd name="connsiteX96" fmla="*/ 5897668 w 12192000"/>
              <a:gd name="connsiteY96" fmla="*/ 4780915 h 6858000"/>
              <a:gd name="connsiteX97" fmla="*/ 6303132 w 12192000"/>
              <a:gd name="connsiteY97" fmla="*/ 5094297 h 6858000"/>
              <a:gd name="connsiteX98" fmla="*/ 6393287 w 12192000"/>
              <a:gd name="connsiteY98" fmla="*/ 5198310 h 6858000"/>
              <a:gd name="connsiteX99" fmla="*/ 6575386 w 12192000"/>
              <a:gd name="connsiteY99" fmla="*/ 5456548 h 6858000"/>
              <a:gd name="connsiteX100" fmla="*/ 6566415 w 12192000"/>
              <a:gd name="connsiteY100" fmla="*/ 5485690 h 6858000"/>
              <a:gd name="connsiteX101" fmla="*/ 6356059 w 12192000"/>
              <a:gd name="connsiteY101" fmla="*/ 5443995 h 6858000"/>
              <a:gd name="connsiteX102" fmla="*/ 6628762 w 12192000"/>
              <a:gd name="connsiteY102" fmla="*/ 5660990 h 6858000"/>
              <a:gd name="connsiteX103" fmla="*/ 6910436 w 12192000"/>
              <a:gd name="connsiteY103" fmla="*/ 5827767 h 6858000"/>
              <a:gd name="connsiteX104" fmla="*/ 6710393 w 12192000"/>
              <a:gd name="connsiteY104" fmla="*/ 5802214 h 6858000"/>
              <a:gd name="connsiteX105" fmla="*/ 6435448 w 12192000"/>
              <a:gd name="connsiteY105" fmla="*/ 5706719 h 6858000"/>
              <a:gd name="connsiteX106" fmla="*/ 6339913 w 12192000"/>
              <a:gd name="connsiteY106" fmla="*/ 5742586 h 6858000"/>
              <a:gd name="connsiteX107" fmla="*/ 6600503 w 12192000"/>
              <a:gd name="connsiteY107" fmla="*/ 5900398 h 6858000"/>
              <a:gd name="connsiteX108" fmla="*/ 6749863 w 12192000"/>
              <a:gd name="connsiteY108" fmla="*/ 5973478 h 6858000"/>
              <a:gd name="connsiteX109" fmla="*/ 6809515 w 12192000"/>
              <a:gd name="connsiteY109" fmla="*/ 6029519 h 6858000"/>
              <a:gd name="connsiteX110" fmla="*/ 6979954 w 12192000"/>
              <a:gd name="connsiteY110" fmla="*/ 6229474 h 6858000"/>
              <a:gd name="connsiteX111" fmla="*/ 7480509 w 12192000"/>
              <a:gd name="connsiteY111" fmla="*/ 6447812 h 6858000"/>
              <a:gd name="connsiteX112" fmla="*/ 7948764 w 12192000"/>
              <a:gd name="connsiteY112" fmla="*/ 6719056 h 6858000"/>
              <a:gd name="connsiteX113" fmla="*/ 8221244 w 12192000"/>
              <a:gd name="connsiteY113" fmla="*/ 6848868 h 6858000"/>
              <a:gd name="connsiteX114" fmla="*/ 8242921 w 12192000"/>
              <a:gd name="connsiteY114" fmla="*/ 6858000 h 6858000"/>
              <a:gd name="connsiteX115" fmla="*/ 0 w 12192000"/>
              <a:gd name="connsiteY11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2192000" h="6858000">
                <a:moveTo>
                  <a:pt x="0" y="0"/>
                </a:moveTo>
                <a:lnTo>
                  <a:pt x="12192000" y="0"/>
                </a:lnTo>
                <a:lnTo>
                  <a:pt x="12192000" y="6858000"/>
                </a:lnTo>
                <a:lnTo>
                  <a:pt x="10976177" y="6858000"/>
                </a:lnTo>
                <a:lnTo>
                  <a:pt x="10997120" y="6851980"/>
                </a:lnTo>
                <a:cubicBezTo>
                  <a:pt x="11372760" y="6734361"/>
                  <a:pt x="11757137" y="6563389"/>
                  <a:pt x="12094512" y="6315404"/>
                </a:cubicBezTo>
                <a:lnTo>
                  <a:pt x="12191999" y="6239611"/>
                </a:lnTo>
                <a:lnTo>
                  <a:pt x="12191999" y="1104399"/>
                </a:lnTo>
                <a:lnTo>
                  <a:pt x="11979198" y="1051011"/>
                </a:lnTo>
                <a:cubicBezTo>
                  <a:pt x="11902836" y="1030275"/>
                  <a:pt x="11824681" y="1008195"/>
                  <a:pt x="11742378" y="986227"/>
                </a:cubicBezTo>
                <a:cubicBezTo>
                  <a:pt x="11843295" y="875936"/>
                  <a:pt x="12022257" y="888939"/>
                  <a:pt x="12063968" y="729780"/>
                </a:cubicBezTo>
                <a:cubicBezTo>
                  <a:pt x="11901155" y="688534"/>
                  <a:pt x="11729822" y="735611"/>
                  <a:pt x="11572835" y="670151"/>
                </a:cubicBezTo>
                <a:cubicBezTo>
                  <a:pt x="11559381" y="664325"/>
                  <a:pt x="11540990" y="670151"/>
                  <a:pt x="11524844" y="671946"/>
                </a:cubicBezTo>
                <a:cubicBezTo>
                  <a:pt x="11201459" y="706916"/>
                  <a:pt x="10879418" y="676432"/>
                  <a:pt x="10560518" y="632492"/>
                </a:cubicBezTo>
                <a:cubicBezTo>
                  <a:pt x="10101230" y="569728"/>
                  <a:pt x="9640146" y="529825"/>
                  <a:pt x="9178169" y="501577"/>
                </a:cubicBezTo>
                <a:cubicBezTo>
                  <a:pt x="8796475" y="478266"/>
                  <a:pt x="8413886" y="467955"/>
                  <a:pt x="8033984" y="423121"/>
                </a:cubicBezTo>
                <a:cubicBezTo>
                  <a:pt x="7627624" y="375150"/>
                  <a:pt x="7221712" y="320901"/>
                  <a:pt x="6815795" y="270688"/>
                </a:cubicBezTo>
                <a:cubicBezTo>
                  <a:pt x="6797407" y="268446"/>
                  <a:pt x="6777110" y="261384"/>
                  <a:pt x="6757489" y="260880"/>
                </a:cubicBezTo>
                <a:cubicBezTo>
                  <a:pt x="6737867" y="260376"/>
                  <a:pt x="6718916" y="266430"/>
                  <a:pt x="6703217" y="290416"/>
                </a:cubicBezTo>
                <a:cubicBezTo>
                  <a:pt x="6786642" y="353629"/>
                  <a:pt x="6892941" y="329867"/>
                  <a:pt x="7005521" y="401154"/>
                </a:cubicBezTo>
                <a:cubicBezTo>
                  <a:pt x="6822525" y="378735"/>
                  <a:pt x="6677649" y="360801"/>
                  <a:pt x="6532779" y="342871"/>
                </a:cubicBezTo>
                <a:cubicBezTo>
                  <a:pt x="6530087" y="355424"/>
                  <a:pt x="6527397" y="367976"/>
                  <a:pt x="6524704" y="380529"/>
                </a:cubicBezTo>
                <a:cubicBezTo>
                  <a:pt x="6709945" y="406980"/>
                  <a:pt x="6881280" y="475126"/>
                  <a:pt x="7061587" y="523098"/>
                </a:cubicBezTo>
                <a:cubicBezTo>
                  <a:pt x="7044990" y="552691"/>
                  <a:pt x="7028398" y="546862"/>
                  <a:pt x="7013594" y="545070"/>
                </a:cubicBezTo>
                <a:cubicBezTo>
                  <a:pt x="6917162" y="533412"/>
                  <a:pt x="6820730" y="521755"/>
                  <a:pt x="6728335" y="489924"/>
                </a:cubicBezTo>
                <a:cubicBezTo>
                  <a:pt x="6707702" y="482748"/>
                  <a:pt x="6682583" y="482748"/>
                  <a:pt x="6670923" y="504270"/>
                </a:cubicBezTo>
                <a:cubicBezTo>
                  <a:pt x="6654326" y="534757"/>
                  <a:pt x="6678097" y="554484"/>
                  <a:pt x="6699180" y="571069"/>
                </a:cubicBezTo>
                <a:cubicBezTo>
                  <a:pt x="6735959" y="599764"/>
                  <a:pt x="6780362" y="591695"/>
                  <a:pt x="6822972" y="597073"/>
                </a:cubicBezTo>
                <a:cubicBezTo>
                  <a:pt x="6936448" y="610972"/>
                  <a:pt x="6990720" y="654460"/>
                  <a:pt x="7015839" y="753992"/>
                </a:cubicBezTo>
                <a:cubicBezTo>
                  <a:pt x="6916264" y="713640"/>
                  <a:pt x="6820280" y="763407"/>
                  <a:pt x="6723848" y="735160"/>
                </a:cubicBezTo>
                <a:cubicBezTo>
                  <a:pt x="6698731" y="727988"/>
                  <a:pt x="6658813" y="738747"/>
                  <a:pt x="6672268" y="773268"/>
                </a:cubicBezTo>
                <a:cubicBezTo>
                  <a:pt x="6684828" y="805550"/>
                  <a:pt x="6726540" y="828861"/>
                  <a:pt x="6652532" y="822585"/>
                </a:cubicBezTo>
                <a:cubicBezTo>
                  <a:pt x="6599609" y="818101"/>
                  <a:pt x="6495999" y="854418"/>
                  <a:pt x="6539505" y="863382"/>
                </a:cubicBezTo>
                <a:cubicBezTo>
                  <a:pt x="6594225" y="874593"/>
                  <a:pt x="6647600" y="890733"/>
                  <a:pt x="6717122" y="909114"/>
                </a:cubicBezTo>
                <a:cubicBezTo>
                  <a:pt x="6640423" y="939151"/>
                  <a:pt x="6585254" y="932874"/>
                  <a:pt x="6527397" y="909114"/>
                </a:cubicBezTo>
                <a:cubicBezTo>
                  <a:pt x="6457427" y="880419"/>
                  <a:pt x="6366375" y="845451"/>
                  <a:pt x="6309411" y="877731"/>
                </a:cubicBezTo>
                <a:cubicBezTo>
                  <a:pt x="6224192" y="926151"/>
                  <a:pt x="6153325" y="895663"/>
                  <a:pt x="6077077" y="887593"/>
                </a:cubicBezTo>
                <a:lnTo>
                  <a:pt x="6076642" y="887537"/>
                </a:lnTo>
                <a:lnTo>
                  <a:pt x="6032390" y="898600"/>
                </a:lnTo>
                <a:cubicBezTo>
                  <a:pt x="6023409" y="901866"/>
                  <a:pt x="6017756" y="911989"/>
                  <a:pt x="6008536" y="914503"/>
                </a:cubicBezTo>
                <a:cubicBezTo>
                  <a:pt x="5987921" y="920125"/>
                  <a:pt x="5964038" y="912898"/>
                  <a:pt x="5944926" y="922454"/>
                </a:cubicBezTo>
                <a:cubicBezTo>
                  <a:pt x="5934324" y="927755"/>
                  <a:pt x="5934324" y="943657"/>
                  <a:pt x="5929023" y="954259"/>
                </a:cubicBezTo>
                <a:cubicBezTo>
                  <a:pt x="5933305" y="967105"/>
                  <a:pt x="5936344" y="975942"/>
                  <a:pt x="5938641" y="983356"/>
                </a:cubicBezTo>
                <a:lnTo>
                  <a:pt x="5941380" y="994243"/>
                </a:lnTo>
                <a:lnTo>
                  <a:pt x="6022639" y="1012399"/>
                </a:lnTo>
                <a:cubicBezTo>
                  <a:pt x="6231931" y="1059643"/>
                  <a:pt x="6435672" y="1112210"/>
                  <a:pt x="6620687" y="1222947"/>
                </a:cubicBezTo>
                <a:cubicBezTo>
                  <a:pt x="6604990" y="1244018"/>
                  <a:pt x="6525153" y="1304094"/>
                  <a:pt x="6557895" y="1308577"/>
                </a:cubicBezTo>
                <a:cubicBezTo>
                  <a:pt x="6649842" y="1321581"/>
                  <a:pt x="6731472" y="1365517"/>
                  <a:pt x="6815348" y="1401831"/>
                </a:cubicBezTo>
                <a:cubicBezTo>
                  <a:pt x="6851679" y="1417523"/>
                  <a:pt x="6895633" y="1438147"/>
                  <a:pt x="6878591" y="1494187"/>
                </a:cubicBezTo>
                <a:cubicBezTo>
                  <a:pt x="6847640" y="1509878"/>
                  <a:pt x="6824766" y="1487911"/>
                  <a:pt x="6799202" y="1486118"/>
                </a:cubicBezTo>
                <a:cubicBezTo>
                  <a:pt x="6773186" y="1484326"/>
                  <a:pt x="6714877" y="1495981"/>
                  <a:pt x="6731027" y="1503602"/>
                </a:cubicBezTo>
                <a:cubicBezTo>
                  <a:pt x="6804583" y="1538124"/>
                  <a:pt x="6672268" y="1621067"/>
                  <a:pt x="6759282" y="1621067"/>
                </a:cubicBezTo>
                <a:cubicBezTo>
                  <a:pt x="6905053" y="1621514"/>
                  <a:pt x="6982647" y="1768566"/>
                  <a:pt x="7123035" y="1772603"/>
                </a:cubicBezTo>
                <a:cubicBezTo>
                  <a:pt x="7145459" y="1773049"/>
                  <a:pt x="7156224" y="1799053"/>
                  <a:pt x="7155777" y="1821919"/>
                </a:cubicBezTo>
                <a:cubicBezTo>
                  <a:pt x="7155777" y="1849268"/>
                  <a:pt x="7135144" y="1854199"/>
                  <a:pt x="7112270" y="1856890"/>
                </a:cubicBezTo>
                <a:cubicBezTo>
                  <a:pt x="7077284" y="1860923"/>
                  <a:pt x="7040954" y="1821919"/>
                  <a:pt x="6994755" y="1874821"/>
                </a:cubicBezTo>
                <a:cubicBezTo>
                  <a:pt x="7077735" y="1905755"/>
                  <a:pt x="7160709" y="1936693"/>
                  <a:pt x="7159364" y="2042948"/>
                </a:cubicBezTo>
                <a:cubicBezTo>
                  <a:pt x="7158916" y="2071638"/>
                  <a:pt x="7193452" y="2082399"/>
                  <a:pt x="7219467" y="2089573"/>
                </a:cubicBezTo>
                <a:cubicBezTo>
                  <a:pt x="7262526" y="2101231"/>
                  <a:pt x="7298853" y="2121854"/>
                  <a:pt x="7322179" y="2161756"/>
                </a:cubicBezTo>
                <a:cubicBezTo>
                  <a:pt x="7321730" y="2169378"/>
                  <a:pt x="7321281" y="2177446"/>
                  <a:pt x="7323974" y="2183724"/>
                </a:cubicBezTo>
                <a:cubicBezTo>
                  <a:pt x="7316349" y="2280115"/>
                  <a:pt x="7253555" y="2277424"/>
                  <a:pt x="7184034" y="2261285"/>
                </a:cubicBezTo>
                <a:cubicBezTo>
                  <a:pt x="7101058" y="2241558"/>
                  <a:pt x="7018978" y="2205691"/>
                  <a:pt x="6931516" y="2240212"/>
                </a:cubicBezTo>
                <a:cubicBezTo>
                  <a:pt x="7054861" y="2286391"/>
                  <a:pt x="7188967" y="2289976"/>
                  <a:pt x="7304686" y="2355883"/>
                </a:cubicBezTo>
                <a:cubicBezTo>
                  <a:pt x="6881280" y="2367989"/>
                  <a:pt x="6507211" y="2159959"/>
                  <a:pt x="6096813" y="2080160"/>
                </a:cubicBezTo>
                <a:cubicBezTo>
                  <a:pt x="6110718" y="2133508"/>
                  <a:pt x="6143907" y="2144268"/>
                  <a:pt x="6173959" y="2152340"/>
                </a:cubicBezTo>
                <a:cubicBezTo>
                  <a:pt x="6325561" y="2192691"/>
                  <a:pt x="6458320" y="2272943"/>
                  <a:pt x="6596469" y="2342432"/>
                </a:cubicBezTo>
                <a:cubicBezTo>
                  <a:pt x="6653429" y="2371125"/>
                  <a:pt x="6694695" y="2399820"/>
                  <a:pt x="6716224" y="2461690"/>
                </a:cubicBezTo>
                <a:cubicBezTo>
                  <a:pt x="6735511" y="2517732"/>
                  <a:pt x="6772739" y="2543736"/>
                  <a:pt x="6841810" y="2527594"/>
                </a:cubicBezTo>
                <a:cubicBezTo>
                  <a:pt x="6897875" y="2514144"/>
                  <a:pt x="6959322" y="2521317"/>
                  <a:pt x="7018080" y="2526249"/>
                </a:cubicBezTo>
                <a:cubicBezTo>
                  <a:pt x="7085808" y="2531629"/>
                  <a:pt x="7161607" y="2594845"/>
                  <a:pt x="7143217" y="2627573"/>
                </a:cubicBezTo>
                <a:cubicBezTo>
                  <a:pt x="7111823" y="2683166"/>
                  <a:pt x="7059345" y="2655370"/>
                  <a:pt x="7012697" y="2649094"/>
                </a:cubicBezTo>
                <a:cubicBezTo>
                  <a:pt x="6959771" y="2641473"/>
                  <a:pt x="6861547" y="2625779"/>
                  <a:pt x="6859752" y="2632505"/>
                </a:cubicBezTo>
                <a:cubicBezTo>
                  <a:pt x="6825212" y="2771936"/>
                  <a:pt x="6582114" y="2650439"/>
                  <a:pt x="6529636" y="2637883"/>
                </a:cubicBezTo>
                <a:cubicBezTo>
                  <a:pt x="6464154" y="2622192"/>
                  <a:pt x="6402705" y="2650887"/>
                  <a:pt x="6340360" y="2657610"/>
                </a:cubicBezTo>
                <a:cubicBezTo>
                  <a:pt x="6284743" y="2663887"/>
                  <a:pt x="5970330" y="2683166"/>
                  <a:pt x="5905294" y="2623984"/>
                </a:cubicBezTo>
                <a:cubicBezTo>
                  <a:pt x="5896322" y="2670163"/>
                  <a:pt x="5915159" y="2688993"/>
                  <a:pt x="5930860" y="2710066"/>
                </a:cubicBezTo>
                <a:cubicBezTo>
                  <a:pt x="5952838" y="2740102"/>
                  <a:pt x="5956426" y="2761175"/>
                  <a:pt x="5914710" y="2784935"/>
                </a:cubicBezTo>
                <a:cubicBezTo>
                  <a:pt x="5795853" y="2853086"/>
                  <a:pt x="5797649" y="2855325"/>
                  <a:pt x="5908433" y="2947683"/>
                </a:cubicBezTo>
                <a:cubicBezTo>
                  <a:pt x="5913818" y="2951715"/>
                  <a:pt x="5911572" y="2965167"/>
                  <a:pt x="5912470" y="2974134"/>
                </a:cubicBezTo>
                <a:cubicBezTo>
                  <a:pt x="5883316" y="2988480"/>
                  <a:pt x="5849228" y="2952613"/>
                  <a:pt x="5815141" y="2991171"/>
                </a:cubicBezTo>
                <a:cubicBezTo>
                  <a:pt x="5963601" y="3160638"/>
                  <a:pt x="6190105" y="3202332"/>
                  <a:pt x="6395082" y="3329661"/>
                </a:cubicBezTo>
                <a:cubicBezTo>
                  <a:pt x="6229127" y="3371803"/>
                  <a:pt x="6129555" y="3224751"/>
                  <a:pt x="6007557" y="3243581"/>
                </a:cubicBezTo>
                <a:cubicBezTo>
                  <a:pt x="5946560" y="3289760"/>
                  <a:pt x="6127760" y="3363734"/>
                  <a:pt x="5955079" y="3385704"/>
                </a:cubicBezTo>
                <a:cubicBezTo>
                  <a:pt x="6029985" y="3426052"/>
                  <a:pt x="6085601" y="3465503"/>
                  <a:pt x="6137180" y="3512133"/>
                </a:cubicBezTo>
                <a:cubicBezTo>
                  <a:pt x="6229127" y="3595522"/>
                  <a:pt x="6247069" y="3650219"/>
                  <a:pt x="6204457" y="3762302"/>
                </a:cubicBezTo>
                <a:cubicBezTo>
                  <a:pt x="6176648" y="3835828"/>
                  <a:pt x="6135833" y="3903528"/>
                  <a:pt x="6171716" y="3990952"/>
                </a:cubicBezTo>
                <a:cubicBezTo>
                  <a:pt x="6196832" y="4051028"/>
                  <a:pt x="6186964" y="4090479"/>
                  <a:pt x="6093674" y="4063580"/>
                </a:cubicBezTo>
                <a:cubicBezTo>
                  <a:pt x="5993205" y="4034885"/>
                  <a:pt x="5955530" y="4088685"/>
                  <a:pt x="5980645" y="4194045"/>
                </a:cubicBezTo>
                <a:cubicBezTo>
                  <a:pt x="5996791" y="4261744"/>
                  <a:pt x="5979747" y="4282366"/>
                  <a:pt x="5910676" y="4274743"/>
                </a:cubicBezTo>
                <a:cubicBezTo>
                  <a:pt x="5834426" y="4266226"/>
                  <a:pt x="5761765" y="4221841"/>
                  <a:pt x="5667577" y="4243362"/>
                </a:cubicBezTo>
                <a:cubicBezTo>
                  <a:pt x="5742928" y="4366207"/>
                  <a:pt x="5903948" y="4331236"/>
                  <a:pt x="5991859" y="4448252"/>
                </a:cubicBezTo>
                <a:cubicBezTo>
                  <a:pt x="5886904" y="4448697"/>
                  <a:pt x="5806617" y="4448252"/>
                  <a:pt x="5729024" y="4422695"/>
                </a:cubicBezTo>
                <a:cubicBezTo>
                  <a:pt x="5696728" y="4412381"/>
                  <a:pt x="5661295" y="4401625"/>
                  <a:pt x="5643357" y="4437041"/>
                </a:cubicBezTo>
                <a:cubicBezTo>
                  <a:pt x="5622274" y="4479633"/>
                  <a:pt x="5665781" y="4495772"/>
                  <a:pt x="5692243" y="4503395"/>
                </a:cubicBezTo>
                <a:cubicBezTo>
                  <a:pt x="5766702" y="4524914"/>
                  <a:pt x="5823661" y="4576025"/>
                  <a:pt x="5885111" y="4615926"/>
                </a:cubicBezTo>
                <a:cubicBezTo>
                  <a:pt x="6020115" y="4703353"/>
                  <a:pt x="6168129" y="4776430"/>
                  <a:pt x="6282503" y="4920793"/>
                </a:cubicBezTo>
                <a:cubicBezTo>
                  <a:pt x="6138526" y="4884029"/>
                  <a:pt x="6031329" y="4798399"/>
                  <a:pt x="5897668" y="4780915"/>
                </a:cubicBezTo>
                <a:cubicBezTo>
                  <a:pt x="6013387" y="4912275"/>
                  <a:pt x="6162296" y="4998804"/>
                  <a:pt x="6303132" y="5094297"/>
                </a:cubicBezTo>
                <a:cubicBezTo>
                  <a:pt x="6343501" y="5121199"/>
                  <a:pt x="6384317" y="5139580"/>
                  <a:pt x="6393287" y="5198310"/>
                </a:cubicBezTo>
                <a:cubicBezTo>
                  <a:pt x="6410780" y="5312186"/>
                  <a:pt x="6463257" y="5406336"/>
                  <a:pt x="6575386" y="5456548"/>
                </a:cubicBezTo>
                <a:cubicBezTo>
                  <a:pt x="6576284" y="5457000"/>
                  <a:pt x="6570007" y="5474037"/>
                  <a:pt x="6566415" y="5485690"/>
                </a:cubicBezTo>
                <a:cubicBezTo>
                  <a:pt x="6497793" y="5489279"/>
                  <a:pt x="6443521" y="5422027"/>
                  <a:pt x="6356059" y="5443995"/>
                </a:cubicBezTo>
                <a:cubicBezTo>
                  <a:pt x="6439934" y="5535454"/>
                  <a:pt x="6509903" y="5617502"/>
                  <a:pt x="6628762" y="5660990"/>
                </a:cubicBezTo>
                <a:cubicBezTo>
                  <a:pt x="6723848" y="5695511"/>
                  <a:pt x="6841363" y="5715686"/>
                  <a:pt x="6910436" y="5827767"/>
                </a:cubicBezTo>
                <a:cubicBezTo>
                  <a:pt x="6830149" y="5849739"/>
                  <a:pt x="6770494" y="5821942"/>
                  <a:pt x="6710393" y="5802214"/>
                </a:cubicBezTo>
                <a:cubicBezTo>
                  <a:pt x="6618446" y="5771728"/>
                  <a:pt x="6527397" y="5737208"/>
                  <a:pt x="6435448" y="5706719"/>
                </a:cubicBezTo>
                <a:cubicBezTo>
                  <a:pt x="6400463" y="5695062"/>
                  <a:pt x="6362338" y="5686991"/>
                  <a:pt x="6339913" y="5742586"/>
                </a:cubicBezTo>
                <a:cubicBezTo>
                  <a:pt x="6456978" y="5754244"/>
                  <a:pt x="6526948" y="5829564"/>
                  <a:pt x="6600503" y="5900398"/>
                </a:cubicBezTo>
                <a:cubicBezTo>
                  <a:pt x="6641770" y="5940299"/>
                  <a:pt x="6675410" y="5993652"/>
                  <a:pt x="6749863" y="5973478"/>
                </a:cubicBezTo>
                <a:cubicBezTo>
                  <a:pt x="6788885" y="5962718"/>
                  <a:pt x="6813554" y="5992754"/>
                  <a:pt x="6809515" y="6029519"/>
                </a:cubicBezTo>
                <a:cubicBezTo>
                  <a:pt x="6794715" y="6159089"/>
                  <a:pt x="6885766" y="6204369"/>
                  <a:pt x="6979954" y="6229474"/>
                </a:cubicBezTo>
                <a:cubicBezTo>
                  <a:pt x="7158469" y="6276549"/>
                  <a:pt x="7306929" y="6387287"/>
                  <a:pt x="7480509" y="6447812"/>
                </a:cubicBezTo>
                <a:cubicBezTo>
                  <a:pt x="7649154" y="6506545"/>
                  <a:pt x="7779672" y="6645975"/>
                  <a:pt x="7948764" y="6719056"/>
                </a:cubicBezTo>
                <a:cubicBezTo>
                  <a:pt x="8040603" y="6758733"/>
                  <a:pt x="8129409" y="6806985"/>
                  <a:pt x="8221244" y="6848868"/>
                </a:cubicBezTo>
                <a:lnTo>
                  <a:pt x="8242921" y="6858000"/>
                </a:lnTo>
                <a:lnTo>
                  <a:pt x="0" y="6858000"/>
                </a:lnTo>
                <a:close/>
              </a:path>
            </a:pathLst>
          </a:custGeom>
          <a:solidFill>
            <a:schemeClr val="bg2">
              <a:alpha val="50000"/>
            </a:schemeClr>
          </a:solidFill>
          <a:ln w="32707" cap="flat">
            <a:noFill/>
            <a:prstDash val="solid"/>
            <a:miter/>
          </a:ln>
        </p:spPr>
        <p:txBody>
          <a:bodyPr wrap="square" rtlCol="0" anchor="ctr">
            <a:noAutofit/>
          </a:bodyPr>
          <a:lstStyle/>
          <a:p>
            <a:endParaRPr lang="en-US" dirty="0">
              <a:solidFill>
                <a:schemeClr val="tx1"/>
              </a:solidFill>
            </a:endParaRPr>
          </a:p>
        </p:txBody>
      </p:sp>
      <p:sp>
        <p:nvSpPr>
          <p:cNvPr id="3" name="Content Placeholder 2">
            <a:extLst>
              <a:ext uri="{FF2B5EF4-FFF2-40B4-BE49-F238E27FC236}">
                <a16:creationId xmlns:a16="http://schemas.microsoft.com/office/drawing/2014/main" id="{3ABAE715-3607-943E-1015-7198AAFA416F}"/>
              </a:ext>
            </a:extLst>
          </p:cNvPr>
          <p:cNvSpPr>
            <a:spLocks noGrp="1"/>
          </p:cNvSpPr>
          <p:nvPr>
            <p:ph idx="1"/>
          </p:nvPr>
        </p:nvSpPr>
        <p:spPr>
          <a:xfrm>
            <a:off x="838201" y="2265037"/>
            <a:ext cx="5234271" cy="3911925"/>
          </a:xfrm>
        </p:spPr>
        <p:txBody>
          <a:bodyPr>
            <a:normAutofit/>
          </a:bodyPr>
          <a:lstStyle/>
          <a:p>
            <a:r>
              <a:rPr lang="en-GB" sz="2000"/>
              <a:t>Training Process:</a:t>
            </a:r>
          </a:p>
          <a:p>
            <a:r>
              <a:rPr lang="en-GB" sz="2000"/>
              <a:t>1- we split the data into testing and training</a:t>
            </a:r>
          </a:p>
          <a:p>
            <a:r>
              <a:rPr lang="en-GB" sz="2000"/>
              <a:t>2-standardizing the features in  dataset using the Z-score normalization</a:t>
            </a:r>
          </a:p>
          <a:p>
            <a:r>
              <a:rPr lang="en-GB" sz="2000"/>
              <a:t>3-the models we are going to use are Random Forest, Support Vector Machine, Naïve Bayes.</a:t>
            </a:r>
          </a:p>
          <a:p>
            <a:r>
              <a:rPr lang="en-GB" sz="2000"/>
              <a:t>4- we used hyperparameter tuning using Grid search for better accuracy results</a:t>
            </a:r>
          </a:p>
          <a:p>
            <a:r>
              <a:rPr lang="en-GB" sz="2000"/>
              <a:t>5 – we evaluated the model performance using cross-validation</a:t>
            </a:r>
          </a:p>
          <a:p>
            <a:endParaRPr lang="en-GB" sz="2000"/>
          </a:p>
        </p:txBody>
      </p:sp>
      <p:pic>
        <p:nvPicPr>
          <p:cNvPr id="5" name="Picture 4">
            <a:extLst>
              <a:ext uri="{FF2B5EF4-FFF2-40B4-BE49-F238E27FC236}">
                <a16:creationId xmlns:a16="http://schemas.microsoft.com/office/drawing/2014/main" id="{5E8DF691-E050-FA68-642D-E200A321EA26}"/>
              </a:ext>
            </a:extLst>
          </p:cNvPr>
          <p:cNvPicPr>
            <a:picLocks noChangeAspect="1"/>
          </p:cNvPicPr>
          <p:nvPr/>
        </p:nvPicPr>
        <p:blipFill>
          <a:blip r:embed="rId2"/>
          <a:stretch>
            <a:fillRect/>
          </a:stretch>
        </p:blipFill>
        <p:spPr>
          <a:xfrm>
            <a:off x="7359958" y="4220999"/>
            <a:ext cx="3541508" cy="670740"/>
          </a:xfrm>
          <a:prstGeom prst="rect">
            <a:avLst/>
          </a:prstGeom>
        </p:spPr>
      </p:pic>
      <p:pic>
        <p:nvPicPr>
          <p:cNvPr id="4" name="Picture 3">
            <a:extLst>
              <a:ext uri="{FF2B5EF4-FFF2-40B4-BE49-F238E27FC236}">
                <a16:creationId xmlns:a16="http://schemas.microsoft.com/office/drawing/2014/main" id="{A6FE47B8-1E3E-AE41-2B1D-8CFC2C5D0BE7}"/>
              </a:ext>
            </a:extLst>
          </p:cNvPr>
          <p:cNvPicPr>
            <a:picLocks noChangeAspect="1"/>
          </p:cNvPicPr>
          <p:nvPr/>
        </p:nvPicPr>
        <p:blipFill>
          <a:blip r:embed="rId3"/>
          <a:stretch>
            <a:fillRect/>
          </a:stretch>
        </p:blipFill>
        <p:spPr>
          <a:xfrm>
            <a:off x="6268719" y="2342039"/>
            <a:ext cx="5701123" cy="589923"/>
          </a:xfrm>
          <a:prstGeom prst="rect">
            <a:avLst/>
          </a:prstGeom>
        </p:spPr>
      </p:pic>
    </p:spTree>
    <p:extLst>
      <p:ext uri="{BB962C8B-B14F-4D97-AF65-F5344CB8AC3E}">
        <p14:creationId xmlns:p14="http://schemas.microsoft.com/office/powerpoint/2010/main" val="326368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D8ABC-1263-57F0-2836-87A9D10C0DD6}"/>
              </a:ext>
            </a:extLst>
          </p:cNvPr>
          <p:cNvSpPr>
            <a:spLocks noGrp="1"/>
          </p:cNvSpPr>
          <p:nvPr>
            <p:ph type="title"/>
          </p:nvPr>
        </p:nvSpPr>
        <p:spPr/>
        <p:txBody>
          <a:bodyPr/>
          <a:lstStyle/>
          <a:p>
            <a:r>
              <a:rPr lang="en-US" dirty="0"/>
              <a:t>Results &amp; Comparison (Time-series)</a:t>
            </a:r>
          </a:p>
        </p:txBody>
      </p:sp>
      <p:pic>
        <p:nvPicPr>
          <p:cNvPr id="5" name="Content Placeholder 4" descr="A graph showing the value of a stock market&#10;&#10;Description automatically generated">
            <a:extLst>
              <a:ext uri="{FF2B5EF4-FFF2-40B4-BE49-F238E27FC236}">
                <a16:creationId xmlns:a16="http://schemas.microsoft.com/office/drawing/2014/main" id="{4A8F9E97-107D-09C6-D80A-FF971C3AA6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85208" y="1765406"/>
            <a:ext cx="3809999" cy="2250180"/>
          </a:xfrm>
        </p:spPr>
      </p:pic>
      <p:pic>
        <p:nvPicPr>
          <p:cNvPr id="7" name="Picture 6" descr="A graph showing a comparison of values&#10;&#10;Description automatically generated">
            <a:extLst>
              <a:ext uri="{FF2B5EF4-FFF2-40B4-BE49-F238E27FC236}">
                <a16:creationId xmlns:a16="http://schemas.microsoft.com/office/drawing/2014/main" id="{3536B8FC-97CB-4D7F-3335-A820A838A2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5039" y="1690687"/>
            <a:ext cx="3892145" cy="2377239"/>
          </a:xfrm>
          <a:prstGeom prst="rect">
            <a:avLst/>
          </a:prstGeom>
        </p:spPr>
      </p:pic>
      <p:pic>
        <p:nvPicPr>
          <p:cNvPr id="9" name="Picture 8" descr="A graph showing the value of a stock market&#10;&#10;Description automatically generated">
            <a:extLst>
              <a:ext uri="{FF2B5EF4-FFF2-40B4-BE49-F238E27FC236}">
                <a16:creationId xmlns:a16="http://schemas.microsoft.com/office/drawing/2014/main" id="{9244B4C4-7CB9-87C9-D1AA-7A937BED81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9088" y="1765406"/>
            <a:ext cx="3593464" cy="2250180"/>
          </a:xfrm>
          <a:prstGeom prst="rect">
            <a:avLst/>
          </a:prstGeom>
        </p:spPr>
      </p:pic>
      <p:sp>
        <p:nvSpPr>
          <p:cNvPr id="10" name="TextBox 9">
            <a:extLst>
              <a:ext uri="{FF2B5EF4-FFF2-40B4-BE49-F238E27FC236}">
                <a16:creationId xmlns:a16="http://schemas.microsoft.com/office/drawing/2014/main" id="{FC8AC37C-5224-7B99-3ADF-362FAC9F9A3C}"/>
              </a:ext>
            </a:extLst>
          </p:cNvPr>
          <p:cNvSpPr txBox="1"/>
          <p:nvPr/>
        </p:nvSpPr>
        <p:spPr>
          <a:xfrm>
            <a:off x="972081" y="1367522"/>
            <a:ext cx="11334115" cy="646331"/>
          </a:xfrm>
          <a:prstGeom prst="rect">
            <a:avLst/>
          </a:prstGeom>
          <a:noFill/>
        </p:spPr>
        <p:txBody>
          <a:bodyPr wrap="square" rtlCol="0">
            <a:spAutoFit/>
          </a:bodyPr>
          <a:lstStyle/>
          <a:p>
            <a:r>
              <a:rPr lang="en-GB" dirty="0"/>
              <a:t>Those are the differences between the actual and the predicate values in the test data:</a:t>
            </a:r>
          </a:p>
          <a:p>
            <a:r>
              <a:rPr lang="en-GB" dirty="0"/>
              <a:t>  </a:t>
            </a:r>
          </a:p>
        </p:txBody>
      </p:sp>
      <p:sp>
        <p:nvSpPr>
          <p:cNvPr id="14" name="TextBox 13">
            <a:extLst>
              <a:ext uri="{FF2B5EF4-FFF2-40B4-BE49-F238E27FC236}">
                <a16:creationId xmlns:a16="http://schemas.microsoft.com/office/drawing/2014/main" id="{39F4E042-71AF-8A2F-7080-ABF0EFF5A3B0}"/>
              </a:ext>
            </a:extLst>
          </p:cNvPr>
          <p:cNvSpPr txBox="1"/>
          <p:nvPr/>
        </p:nvSpPr>
        <p:spPr>
          <a:xfrm>
            <a:off x="8329088" y="4132576"/>
            <a:ext cx="3593464" cy="923330"/>
          </a:xfrm>
          <a:prstGeom prst="rect">
            <a:avLst/>
          </a:prstGeom>
          <a:noFill/>
        </p:spPr>
        <p:txBody>
          <a:bodyPr wrap="square" rtlCol="0">
            <a:spAutoFit/>
          </a:bodyPr>
          <a:lstStyle/>
          <a:p>
            <a:pPr algn="ctr"/>
            <a:r>
              <a:rPr lang="en-GB" dirty="0"/>
              <a:t>Bi-Directional-LSTM(</a:t>
            </a:r>
            <a:r>
              <a:rPr lang="en-GB" dirty="0" err="1"/>
              <a:t>BiLSTM</a:t>
            </a:r>
            <a:r>
              <a:rPr lang="en-GB" dirty="0"/>
              <a:t>):</a:t>
            </a:r>
          </a:p>
          <a:p>
            <a:pPr algn="ctr"/>
            <a:r>
              <a:rPr lang="en-GB" dirty="0"/>
              <a:t>MSE: 0.0160</a:t>
            </a:r>
          </a:p>
          <a:p>
            <a:pPr algn="ctr"/>
            <a:r>
              <a:rPr lang="en-GB" dirty="0"/>
              <a:t>R-squared: 0.9506</a:t>
            </a:r>
          </a:p>
        </p:txBody>
      </p:sp>
      <p:sp>
        <p:nvSpPr>
          <p:cNvPr id="15" name="TextBox 14">
            <a:extLst>
              <a:ext uri="{FF2B5EF4-FFF2-40B4-BE49-F238E27FC236}">
                <a16:creationId xmlns:a16="http://schemas.microsoft.com/office/drawing/2014/main" id="{059AF31E-3EA6-E416-E174-CC24A80BEFAB}"/>
              </a:ext>
            </a:extLst>
          </p:cNvPr>
          <p:cNvSpPr txBox="1"/>
          <p:nvPr/>
        </p:nvSpPr>
        <p:spPr>
          <a:xfrm>
            <a:off x="4493475" y="4136451"/>
            <a:ext cx="3593464" cy="923330"/>
          </a:xfrm>
          <a:prstGeom prst="rect">
            <a:avLst/>
          </a:prstGeom>
          <a:noFill/>
        </p:spPr>
        <p:txBody>
          <a:bodyPr wrap="square" rtlCol="0">
            <a:spAutoFit/>
          </a:bodyPr>
          <a:lstStyle/>
          <a:p>
            <a:pPr algn="ctr"/>
            <a:r>
              <a:rPr lang="en-GB" dirty="0"/>
              <a:t>Long-Short-Term-Memory(LSTM):</a:t>
            </a:r>
          </a:p>
          <a:p>
            <a:pPr algn="ctr"/>
            <a:r>
              <a:rPr lang="en-GB" dirty="0"/>
              <a:t>MSE: 0.0147</a:t>
            </a:r>
          </a:p>
          <a:p>
            <a:pPr algn="ctr"/>
            <a:r>
              <a:rPr lang="en-GB" dirty="0"/>
              <a:t>R-squared: 0.9579</a:t>
            </a:r>
          </a:p>
        </p:txBody>
      </p:sp>
      <p:sp>
        <p:nvSpPr>
          <p:cNvPr id="16" name="TextBox 15">
            <a:extLst>
              <a:ext uri="{FF2B5EF4-FFF2-40B4-BE49-F238E27FC236}">
                <a16:creationId xmlns:a16="http://schemas.microsoft.com/office/drawing/2014/main" id="{257AC734-4DCF-7E8D-A41D-00A985065D2F}"/>
              </a:ext>
            </a:extLst>
          </p:cNvPr>
          <p:cNvSpPr txBox="1"/>
          <p:nvPr/>
        </p:nvSpPr>
        <p:spPr>
          <a:xfrm>
            <a:off x="674379" y="4132576"/>
            <a:ext cx="3593464" cy="923330"/>
          </a:xfrm>
          <a:prstGeom prst="rect">
            <a:avLst/>
          </a:prstGeom>
          <a:noFill/>
        </p:spPr>
        <p:txBody>
          <a:bodyPr wrap="square" rtlCol="0">
            <a:spAutoFit/>
          </a:bodyPr>
          <a:lstStyle/>
          <a:p>
            <a:pPr algn="ctr"/>
            <a:r>
              <a:rPr lang="en-GB" dirty="0"/>
              <a:t>Echo-state-network(ESN):</a:t>
            </a:r>
          </a:p>
          <a:p>
            <a:pPr algn="ctr"/>
            <a:r>
              <a:rPr lang="en-GB" dirty="0"/>
              <a:t>MSE: 0.0285</a:t>
            </a:r>
          </a:p>
          <a:p>
            <a:pPr algn="ctr"/>
            <a:r>
              <a:rPr lang="en-GB" dirty="0"/>
              <a:t>R-squared: 0.8831</a:t>
            </a:r>
          </a:p>
        </p:txBody>
      </p:sp>
      <p:sp>
        <p:nvSpPr>
          <p:cNvPr id="17" name="TextBox 16">
            <a:extLst>
              <a:ext uri="{FF2B5EF4-FFF2-40B4-BE49-F238E27FC236}">
                <a16:creationId xmlns:a16="http://schemas.microsoft.com/office/drawing/2014/main" id="{E3BAE9D9-E5C3-B23B-8699-6A8620FCB55C}"/>
              </a:ext>
            </a:extLst>
          </p:cNvPr>
          <p:cNvSpPr txBox="1"/>
          <p:nvPr/>
        </p:nvSpPr>
        <p:spPr>
          <a:xfrm>
            <a:off x="525039" y="5311448"/>
            <a:ext cx="11170293" cy="1138773"/>
          </a:xfrm>
          <a:prstGeom prst="rect">
            <a:avLst/>
          </a:prstGeom>
          <a:noFill/>
        </p:spPr>
        <p:txBody>
          <a:bodyPr wrap="square" rtlCol="0">
            <a:spAutoFit/>
          </a:bodyPr>
          <a:lstStyle/>
          <a:p>
            <a:r>
              <a:rPr lang="en-GB" sz="1700" dirty="0"/>
              <a:t>The LSTM model demonstrated the highest accuracy with an R-squared value of 0.9579, indicating that it can explain approximately 95.79% of the variance in the data. The low MSE value of 0.0147 suggests that the model's predictions are very close to the actual values. The ESN model had a higher MSE of 0.0285, indicating that its predictions are less accurate compared to the LSTM and Bi-LSTM models. This suggests that the ESN may not be as effective</a:t>
            </a:r>
          </a:p>
        </p:txBody>
      </p:sp>
    </p:spTree>
    <p:extLst>
      <p:ext uri="{BB962C8B-B14F-4D97-AF65-F5344CB8AC3E}">
        <p14:creationId xmlns:p14="http://schemas.microsoft.com/office/powerpoint/2010/main" val="2982550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5DAA40F-4F28-4316-934E-C55D7C3AA0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F6D467C8-A8E0-468B-B88D-9CEEE37BFC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33452" cy="6858000"/>
          </a:xfrm>
          <a:custGeom>
            <a:avLst/>
            <a:gdLst>
              <a:gd name="connsiteX0" fmla="*/ 0 w 7433452"/>
              <a:gd name="connsiteY0" fmla="*/ 0 h 6858000"/>
              <a:gd name="connsiteX1" fmla="*/ 1592736 w 7433452"/>
              <a:gd name="connsiteY1" fmla="*/ 0 h 6858000"/>
              <a:gd name="connsiteX2" fmla="*/ 2171700 w 7433452"/>
              <a:gd name="connsiteY2" fmla="*/ 0 h 6858000"/>
              <a:gd name="connsiteX3" fmla="*/ 2762696 w 7433452"/>
              <a:gd name="connsiteY3" fmla="*/ 0 h 6858000"/>
              <a:gd name="connsiteX4" fmla="*/ 2829254 w 7433452"/>
              <a:gd name="connsiteY4" fmla="*/ 0 h 6858000"/>
              <a:gd name="connsiteX5" fmla="*/ 7415310 w 7433452"/>
              <a:gd name="connsiteY5" fmla="*/ 0 h 6858000"/>
              <a:gd name="connsiteX6" fmla="*/ 7405703 w 7433452"/>
              <a:gd name="connsiteY6" fmla="*/ 94814 h 6858000"/>
              <a:gd name="connsiteX7" fmla="*/ 7410754 w 7433452"/>
              <a:gd name="connsiteY7" fmla="*/ 421796 h 6858000"/>
              <a:gd name="connsiteX8" fmla="*/ 7414688 w 7433452"/>
              <a:gd name="connsiteY8" fmla="*/ 812192 h 6858000"/>
              <a:gd name="connsiteX9" fmla="*/ 7395017 w 7433452"/>
              <a:gd name="connsiteY9" fmla="*/ 1113642 h 6858000"/>
              <a:gd name="connsiteX10" fmla="*/ 7422810 w 7433452"/>
              <a:gd name="connsiteY10" fmla="*/ 1796708 h 6858000"/>
              <a:gd name="connsiteX11" fmla="*/ 7421161 w 7433452"/>
              <a:gd name="connsiteY11" fmla="*/ 2327333 h 6858000"/>
              <a:gd name="connsiteX12" fmla="*/ 7412023 w 7433452"/>
              <a:gd name="connsiteY12" fmla="*/ 2784280 h 6858000"/>
              <a:gd name="connsiteX13" fmla="*/ 7417480 w 7433452"/>
              <a:gd name="connsiteY13" fmla="*/ 2985458 h 6858000"/>
              <a:gd name="connsiteX14" fmla="*/ 7403774 w 7433452"/>
              <a:gd name="connsiteY14" fmla="*/ 3531096 h 6858000"/>
              <a:gd name="connsiteX15" fmla="*/ 7414307 w 7433452"/>
              <a:gd name="connsiteY15" fmla="*/ 4336830 h 6858000"/>
              <a:gd name="connsiteX16" fmla="*/ 7413419 w 7433452"/>
              <a:gd name="connsiteY16" fmla="*/ 5026893 h 6858000"/>
              <a:gd name="connsiteX17" fmla="*/ 7417734 w 7433452"/>
              <a:gd name="connsiteY17" fmla="*/ 5252632 h 6858000"/>
              <a:gd name="connsiteX18" fmla="*/ 7417734 w 7433452"/>
              <a:gd name="connsiteY18" fmla="*/ 5466282 h 6858000"/>
              <a:gd name="connsiteX19" fmla="*/ 7379659 w 7433452"/>
              <a:gd name="connsiteY19" fmla="*/ 6121225 h 6858000"/>
              <a:gd name="connsiteX20" fmla="*/ 7395115 w 7433452"/>
              <a:gd name="connsiteY20" fmla="*/ 6708907 h 6858000"/>
              <a:gd name="connsiteX21" fmla="*/ 7412408 w 7433452"/>
              <a:gd name="connsiteY21" fmla="*/ 6858000 h 6858000"/>
              <a:gd name="connsiteX22" fmla="*/ 2829254 w 7433452"/>
              <a:gd name="connsiteY22" fmla="*/ 6858000 h 6858000"/>
              <a:gd name="connsiteX23" fmla="*/ 2762696 w 7433452"/>
              <a:gd name="connsiteY23" fmla="*/ 6858000 h 6858000"/>
              <a:gd name="connsiteX24" fmla="*/ 2171700 w 7433452"/>
              <a:gd name="connsiteY24" fmla="*/ 6858000 h 6858000"/>
              <a:gd name="connsiteX25" fmla="*/ 1592736 w 7433452"/>
              <a:gd name="connsiteY25" fmla="*/ 6858000 h 6858000"/>
              <a:gd name="connsiteX26" fmla="*/ 0 w 7433452"/>
              <a:gd name="connsiteY2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433452" h="6858000">
                <a:moveTo>
                  <a:pt x="0" y="0"/>
                </a:moveTo>
                <a:lnTo>
                  <a:pt x="1592736" y="0"/>
                </a:lnTo>
                <a:lnTo>
                  <a:pt x="2171700" y="0"/>
                </a:lnTo>
                <a:lnTo>
                  <a:pt x="2762696" y="0"/>
                </a:lnTo>
                <a:lnTo>
                  <a:pt x="2829254" y="0"/>
                </a:lnTo>
                <a:lnTo>
                  <a:pt x="7415310" y="0"/>
                </a:lnTo>
                <a:lnTo>
                  <a:pt x="7405703" y="94814"/>
                </a:lnTo>
                <a:cubicBezTo>
                  <a:pt x="7398856" y="203629"/>
                  <a:pt x="7403520" y="312712"/>
                  <a:pt x="7410754" y="421796"/>
                </a:cubicBezTo>
                <a:cubicBezTo>
                  <a:pt x="7421580" y="551656"/>
                  <a:pt x="7422900" y="682144"/>
                  <a:pt x="7414688" y="812192"/>
                </a:cubicBezTo>
                <a:cubicBezTo>
                  <a:pt x="7406693" y="912591"/>
                  <a:pt x="7397682" y="1012988"/>
                  <a:pt x="7395017" y="1113642"/>
                </a:cubicBezTo>
                <a:cubicBezTo>
                  <a:pt x="7388670" y="1342689"/>
                  <a:pt x="7407708" y="1569316"/>
                  <a:pt x="7422810" y="1796708"/>
                </a:cubicBezTo>
                <a:cubicBezTo>
                  <a:pt x="7434487" y="1973710"/>
                  <a:pt x="7439944" y="2150457"/>
                  <a:pt x="7421161" y="2327333"/>
                </a:cubicBezTo>
                <a:cubicBezTo>
                  <a:pt x="7405170" y="2479266"/>
                  <a:pt x="7396793" y="2631453"/>
                  <a:pt x="7412023" y="2784280"/>
                </a:cubicBezTo>
                <a:cubicBezTo>
                  <a:pt x="7418749" y="2851085"/>
                  <a:pt x="7425984" y="2918653"/>
                  <a:pt x="7417480" y="2985458"/>
                </a:cubicBezTo>
                <a:cubicBezTo>
                  <a:pt x="7394508" y="3167039"/>
                  <a:pt x="7398063" y="3349132"/>
                  <a:pt x="7403774" y="3531096"/>
                </a:cubicBezTo>
                <a:cubicBezTo>
                  <a:pt x="7412277" y="3799715"/>
                  <a:pt x="7426364" y="4067954"/>
                  <a:pt x="7414307" y="4336830"/>
                </a:cubicBezTo>
                <a:cubicBezTo>
                  <a:pt x="7404027" y="4566639"/>
                  <a:pt x="7420653" y="4796831"/>
                  <a:pt x="7413419" y="5026893"/>
                </a:cubicBezTo>
                <a:cubicBezTo>
                  <a:pt x="7410982" y="5102162"/>
                  <a:pt x="7412429" y="5177504"/>
                  <a:pt x="7417734" y="5252632"/>
                </a:cubicBezTo>
                <a:cubicBezTo>
                  <a:pt x="7424271" y="5323700"/>
                  <a:pt x="7424271" y="5395213"/>
                  <a:pt x="7417734" y="5466282"/>
                </a:cubicBezTo>
                <a:cubicBezTo>
                  <a:pt x="7393239" y="5683875"/>
                  <a:pt x="7383214" y="5902486"/>
                  <a:pt x="7379659" y="6121225"/>
                </a:cubicBezTo>
                <a:cubicBezTo>
                  <a:pt x="7376423" y="6317442"/>
                  <a:pt x="7378041" y="6513586"/>
                  <a:pt x="7395115" y="6708907"/>
                </a:cubicBezTo>
                <a:lnTo>
                  <a:pt x="7412408" y="6858000"/>
                </a:lnTo>
                <a:lnTo>
                  <a:pt x="2829254" y="6858000"/>
                </a:lnTo>
                <a:lnTo>
                  <a:pt x="2762696" y="6858000"/>
                </a:lnTo>
                <a:lnTo>
                  <a:pt x="2171700" y="6858000"/>
                </a:lnTo>
                <a:lnTo>
                  <a:pt x="159273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86DC049-D494-A19D-6F11-63795FD56631}"/>
              </a:ext>
            </a:extLst>
          </p:cNvPr>
          <p:cNvSpPr>
            <a:spLocks noGrp="1"/>
          </p:cNvSpPr>
          <p:nvPr>
            <p:ph type="title"/>
          </p:nvPr>
        </p:nvSpPr>
        <p:spPr>
          <a:xfrm>
            <a:off x="640081" y="329184"/>
            <a:ext cx="6241568" cy="1783080"/>
          </a:xfrm>
        </p:spPr>
        <p:txBody>
          <a:bodyPr anchor="b">
            <a:normAutofit/>
          </a:bodyPr>
          <a:lstStyle/>
          <a:p>
            <a:r>
              <a:rPr lang="en-GB" sz="5400">
                <a:solidFill>
                  <a:srgbClr val="FFFFFF"/>
                </a:solidFill>
              </a:rPr>
              <a:t>Results: Classification</a:t>
            </a:r>
            <a:endParaRPr lang="en-GB" sz="5400" dirty="0">
              <a:solidFill>
                <a:srgbClr val="FFFFFF"/>
              </a:solidFill>
            </a:endParaRPr>
          </a:p>
        </p:txBody>
      </p:sp>
      <p:sp>
        <p:nvSpPr>
          <p:cNvPr id="21" name="sketch line">
            <a:extLst>
              <a:ext uri="{FF2B5EF4-FFF2-40B4-BE49-F238E27FC236}">
                <a16:creationId xmlns:a16="http://schemas.microsoft.com/office/drawing/2014/main" id="{62677C27-4325-4BE2-B2C9-B721DA9E3C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5475" y="2362200"/>
            <a:ext cx="4056549" cy="18288"/>
          </a:xfrm>
          <a:custGeom>
            <a:avLst/>
            <a:gdLst>
              <a:gd name="connsiteX0" fmla="*/ 0 w 4056549"/>
              <a:gd name="connsiteY0" fmla="*/ 0 h 18288"/>
              <a:gd name="connsiteX1" fmla="*/ 676092 w 4056549"/>
              <a:gd name="connsiteY1" fmla="*/ 0 h 18288"/>
              <a:gd name="connsiteX2" fmla="*/ 1271052 w 4056549"/>
              <a:gd name="connsiteY2" fmla="*/ 0 h 18288"/>
              <a:gd name="connsiteX3" fmla="*/ 1947144 w 4056549"/>
              <a:gd name="connsiteY3" fmla="*/ 0 h 18288"/>
              <a:gd name="connsiteX4" fmla="*/ 2501539 w 4056549"/>
              <a:gd name="connsiteY4" fmla="*/ 0 h 18288"/>
              <a:gd name="connsiteX5" fmla="*/ 3137065 w 4056549"/>
              <a:gd name="connsiteY5" fmla="*/ 0 h 18288"/>
              <a:gd name="connsiteX6" fmla="*/ 4056549 w 4056549"/>
              <a:gd name="connsiteY6" fmla="*/ 0 h 18288"/>
              <a:gd name="connsiteX7" fmla="*/ 4056549 w 4056549"/>
              <a:gd name="connsiteY7" fmla="*/ 18288 h 18288"/>
              <a:gd name="connsiteX8" fmla="*/ 3380458 w 4056549"/>
              <a:gd name="connsiteY8" fmla="*/ 18288 h 18288"/>
              <a:gd name="connsiteX9" fmla="*/ 2663801 w 4056549"/>
              <a:gd name="connsiteY9" fmla="*/ 18288 h 18288"/>
              <a:gd name="connsiteX10" fmla="*/ 2068840 w 4056549"/>
              <a:gd name="connsiteY10" fmla="*/ 18288 h 18288"/>
              <a:gd name="connsiteX11" fmla="*/ 1311618 w 4056549"/>
              <a:gd name="connsiteY11" fmla="*/ 18288 h 18288"/>
              <a:gd name="connsiteX12" fmla="*/ 716657 w 4056549"/>
              <a:gd name="connsiteY12" fmla="*/ 18288 h 18288"/>
              <a:gd name="connsiteX13" fmla="*/ 0 w 4056549"/>
              <a:gd name="connsiteY13" fmla="*/ 18288 h 18288"/>
              <a:gd name="connsiteX14" fmla="*/ 0 w 4056549"/>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6549" h="18288" fill="none" extrusionOk="0">
                <a:moveTo>
                  <a:pt x="0" y="0"/>
                </a:moveTo>
                <a:cubicBezTo>
                  <a:pt x="324395" y="-12272"/>
                  <a:pt x="437185" y="20747"/>
                  <a:pt x="676092" y="0"/>
                </a:cubicBezTo>
                <a:cubicBezTo>
                  <a:pt x="914999" y="-20747"/>
                  <a:pt x="980886" y="20074"/>
                  <a:pt x="1271052" y="0"/>
                </a:cubicBezTo>
                <a:cubicBezTo>
                  <a:pt x="1561218" y="-20074"/>
                  <a:pt x="1609815" y="19965"/>
                  <a:pt x="1947144" y="0"/>
                </a:cubicBezTo>
                <a:cubicBezTo>
                  <a:pt x="2284473" y="-19965"/>
                  <a:pt x="2317816" y="-23682"/>
                  <a:pt x="2501539" y="0"/>
                </a:cubicBezTo>
                <a:cubicBezTo>
                  <a:pt x="2685262" y="23682"/>
                  <a:pt x="2879461" y="12712"/>
                  <a:pt x="3137065" y="0"/>
                </a:cubicBezTo>
                <a:cubicBezTo>
                  <a:pt x="3394669" y="-12712"/>
                  <a:pt x="3618306" y="-41742"/>
                  <a:pt x="4056549" y="0"/>
                </a:cubicBezTo>
                <a:cubicBezTo>
                  <a:pt x="4056201" y="6465"/>
                  <a:pt x="4056979" y="10922"/>
                  <a:pt x="4056549" y="18288"/>
                </a:cubicBezTo>
                <a:cubicBezTo>
                  <a:pt x="3807729" y="-7540"/>
                  <a:pt x="3536237" y="12619"/>
                  <a:pt x="3380458" y="18288"/>
                </a:cubicBezTo>
                <a:cubicBezTo>
                  <a:pt x="3224679" y="23957"/>
                  <a:pt x="2967497" y="23368"/>
                  <a:pt x="2663801" y="18288"/>
                </a:cubicBezTo>
                <a:cubicBezTo>
                  <a:pt x="2360105" y="13208"/>
                  <a:pt x="2359716" y="-8821"/>
                  <a:pt x="2068840" y="18288"/>
                </a:cubicBezTo>
                <a:cubicBezTo>
                  <a:pt x="1777964" y="45397"/>
                  <a:pt x="1641909" y="31681"/>
                  <a:pt x="1311618" y="18288"/>
                </a:cubicBezTo>
                <a:cubicBezTo>
                  <a:pt x="981327" y="4895"/>
                  <a:pt x="990410" y="11155"/>
                  <a:pt x="716657" y="18288"/>
                </a:cubicBezTo>
                <a:cubicBezTo>
                  <a:pt x="442904" y="25421"/>
                  <a:pt x="330722" y="13665"/>
                  <a:pt x="0" y="18288"/>
                </a:cubicBezTo>
                <a:cubicBezTo>
                  <a:pt x="75" y="12069"/>
                  <a:pt x="515" y="5650"/>
                  <a:pt x="0" y="0"/>
                </a:cubicBezTo>
                <a:close/>
              </a:path>
              <a:path w="4056549" h="18288" stroke="0" extrusionOk="0">
                <a:moveTo>
                  <a:pt x="0" y="0"/>
                </a:moveTo>
                <a:cubicBezTo>
                  <a:pt x="175099" y="13469"/>
                  <a:pt x="459673" y="14529"/>
                  <a:pt x="594961" y="0"/>
                </a:cubicBezTo>
                <a:cubicBezTo>
                  <a:pt x="730249" y="-14529"/>
                  <a:pt x="873178" y="22015"/>
                  <a:pt x="1149356" y="0"/>
                </a:cubicBezTo>
                <a:cubicBezTo>
                  <a:pt x="1425534" y="-22015"/>
                  <a:pt x="1498871" y="-21513"/>
                  <a:pt x="1744316" y="0"/>
                </a:cubicBezTo>
                <a:cubicBezTo>
                  <a:pt x="1989761" y="21513"/>
                  <a:pt x="2112991" y="-46"/>
                  <a:pt x="2420408" y="0"/>
                </a:cubicBezTo>
                <a:cubicBezTo>
                  <a:pt x="2727825" y="46"/>
                  <a:pt x="2880256" y="-10040"/>
                  <a:pt x="3137065" y="0"/>
                </a:cubicBezTo>
                <a:cubicBezTo>
                  <a:pt x="3393874" y="10040"/>
                  <a:pt x="3704325" y="-6685"/>
                  <a:pt x="4056549" y="0"/>
                </a:cubicBezTo>
                <a:cubicBezTo>
                  <a:pt x="4055732" y="6895"/>
                  <a:pt x="4055770" y="11206"/>
                  <a:pt x="4056549" y="18288"/>
                </a:cubicBezTo>
                <a:cubicBezTo>
                  <a:pt x="3812770" y="11959"/>
                  <a:pt x="3533996" y="-5717"/>
                  <a:pt x="3299327" y="18288"/>
                </a:cubicBezTo>
                <a:cubicBezTo>
                  <a:pt x="3064658" y="42293"/>
                  <a:pt x="2940381" y="24492"/>
                  <a:pt x="2744931" y="18288"/>
                </a:cubicBezTo>
                <a:cubicBezTo>
                  <a:pt x="2549481" y="12084"/>
                  <a:pt x="2252169" y="51841"/>
                  <a:pt x="1987709" y="18288"/>
                </a:cubicBezTo>
                <a:cubicBezTo>
                  <a:pt x="1723249" y="-15265"/>
                  <a:pt x="1438946" y="3423"/>
                  <a:pt x="1230487" y="18288"/>
                </a:cubicBezTo>
                <a:cubicBezTo>
                  <a:pt x="1022028" y="33153"/>
                  <a:pt x="795957" y="18596"/>
                  <a:pt x="676092" y="18288"/>
                </a:cubicBezTo>
                <a:cubicBezTo>
                  <a:pt x="556227" y="17980"/>
                  <a:pt x="334853" y="39451"/>
                  <a:pt x="0" y="18288"/>
                </a:cubicBezTo>
                <a:cubicBezTo>
                  <a:pt x="95" y="14343"/>
                  <a:pt x="742" y="6860"/>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86E9172-0D79-660A-C5E6-333D4615C7B8}"/>
              </a:ext>
            </a:extLst>
          </p:cNvPr>
          <p:cNvSpPr>
            <a:spLocks noGrp="1"/>
          </p:cNvSpPr>
          <p:nvPr>
            <p:ph idx="1"/>
          </p:nvPr>
        </p:nvSpPr>
        <p:spPr>
          <a:xfrm>
            <a:off x="640081" y="2706624"/>
            <a:ext cx="6241568" cy="3483864"/>
          </a:xfrm>
        </p:spPr>
        <p:txBody>
          <a:bodyPr>
            <a:normAutofit/>
          </a:bodyPr>
          <a:lstStyle/>
          <a:p>
            <a:r>
              <a:rPr lang="en-GB" sz="2200">
                <a:solidFill>
                  <a:srgbClr val="FFFFFF"/>
                </a:solidFill>
              </a:rPr>
              <a:t>For the Random Forest Model</a:t>
            </a:r>
          </a:p>
          <a:p>
            <a:endParaRPr lang="en-GB" sz="2200">
              <a:solidFill>
                <a:srgbClr val="FFFFFF"/>
              </a:solidFill>
            </a:endParaRPr>
          </a:p>
          <a:p>
            <a:endParaRPr lang="en-GB" sz="2200">
              <a:solidFill>
                <a:srgbClr val="FFFFFF"/>
              </a:solidFill>
            </a:endParaRPr>
          </a:p>
          <a:p>
            <a:endParaRPr lang="en-GB" sz="2200">
              <a:solidFill>
                <a:srgbClr val="FFFFFF"/>
              </a:solidFill>
            </a:endParaRPr>
          </a:p>
          <a:p>
            <a:endParaRPr lang="en-GB" sz="2200">
              <a:solidFill>
                <a:srgbClr val="FFFFFF"/>
              </a:solidFill>
            </a:endParaRPr>
          </a:p>
        </p:txBody>
      </p:sp>
      <p:pic>
        <p:nvPicPr>
          <p:cNvPr id="9" name="Picture 8">
            <a:extLst>
              <a:ext uri="{FF2B5EF4-FFF2-40B4-BE49-F238E27FC236}">
                <a16:creationId xmlns:a16="http://schemas.microsoft.com/office/drawing/2014/main" id="{2FA77DCF-E61F-5A32-E788-CB41F4C7A94C}"/>
              </a:ext>
            </a:extLst>
          </p:cNvPr>
          <p:cNvPicPr>
            <a:picLocks noChangeAspect="1"/>
          </p:cNvPicPr>
          <p:nvPr/>
        </p:nvPicPr>
        <p:blipFill>
          <a:blip r:embed="rId2"/>
          <a:stretch>
            <a:fillRect/>
          </a:stretch>
        </p:blipFill>
        <p:spPr>
          <a:xfrm>
            <a:off x="7433452" y="653157"/>
            <a:ext cx="4720612" cy="4106933"/>
          </a:xfrm>
          <a:prstGeom prst="rect">
            <a:avLst/>
          </a:prstGeom>
        </p:spPr>
      </p:pic>
      <p:pic>
        <p:nvPicPr>
          <p:cNvPr id="5" name="Picture 4">
            <a:extLst>
              <a:ext uri="{FF2B5EF4-FFF2-40B4-BE49-F238E27FC236}">
                <a16:creationId xmlns:a16="http://schemas.microsoft.com/office/drawing/2014/main" id="{C0B88C5A-9E4B-4604-03C1-241D186A5414}"/>
              </a:ext>
            </a:extLst>
          </p:cNvPr>
          <p:cNvPicPr>
            <a:picLocks noChangeAspect="1"/>
          </p:cNvPicPr>
          <p:nvPr/>
        </p:nvPicPr>
        <p:blipFill>
          <a:blip r:embed="rId3"/>
          <a:stretch>
            <a:fillRect/>
          </a:stretch>
        </p:blipFill>
        <p:spPr>
          <a:xfrm>
            <a:off x="184313" y="3986440"/>
            <a:ext cx="7064826" cy="2331392"/>
          </a:xfrm>
          <a:prstGeom prst="rect">
            <a:avLst/>
          </a:prstGeom>
        </p:spPr>
      </p:pic>
    </p:spTree>
    <p:extLst>
      <p:ext uri="{BB962C8B-B14F-4D97-AF65-F5344CB8AC3E}">
        <p14:creationId xmlns:p14="http://schemas.microsoft.com/office/powerpoint/2010/main" val="2369086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C3AE41C-92AB-E019-DA1E-80D721CFF496}"/>
              </a:ext>
            </a:extLst>
          </p:cNvPr>
          <p:cNvSpPr>
            <a:spLocks noGrp="1"/>
          </p:cNvSpPr>
          <p:nvPr>
            <p:ph idx="1"/>
          </p:nvPr>
        </p:nvSpPr>
        <p:spPr>
          <a:xfrm>
            <a:off x="5541263" y="457200"/>
            <a:ext cx="6007608" cy="1929384"/>
          </a:xfrm>
        </p:spPr>
        <p:txBody>
          <a:bodyPr anchor="ctr">
            <a:normAutofit/>
          </a:bodyPr>
          <a:lstStyle/>
          <a:p>
            <a:r>
              <a:rPr lang="en-GB" sz="2200" dirty="0"/>
              <a:t>For the SVM Model</a:t>
            </a:r>
          </a:p>
        </p:txBody>
      </p:sp>
      <p:pic>
        <p:nvPicPr>
          <p:cNvPr id="7" name="Picture 6">
            <a:extLst>
              <a:ext uri="{FF2B5EF4-FFF2-40B4-BE49-F238E27FC236}">
                <a16:creationId xmlns:a16="http://schemas.microsoft.com/office/drawing/2014/main" id="{3629B12C-1354-1A96-83D5-FCFEE7C3E8EC}"/>
              </a:ext>
            </a:extLst>
          </p:cNvPr>
          <p:cNvPicPr>
            <a:picLocks noChangeAspect="1"/>
          </p:cNvPicPr>
          <p:nvPr/>
        </p:nvPicPr>
        <p:blipFill>
          <a:blip r:embed="rId2"/>
          <a:stretch>
            <a:fillRect/>
          </a:stretch>
        </p:blipFill>
        <p:spPr>
          <a:xfrm>
            <a:off x="1023515" y="2569464"/>
            <a:ext cx="4353770" cy="3678936"/>
          </a:xfrm>
          <a:prstGeom prst="rect">
            <a:avLst/>
          </a:prstGeom>
        </p:spPr>
      </p:pic>
      <p:pic>
        <p:nvPicPr>
          <p:cNvPr id="5" name="Picture 4">
            <a:extLst>
              <a:ext uri="{FF2B5EF4-FFF2-40B4-BE49-F238E27FC236}">
                <a16:creationId xmlns:a16="http://schemas.microsoft.com/office/drawing/2014/main" id="{A8A90337-2222-6C86-4BDE-062E0E5C59D2}"/>
              </a:ext>
            </a:extLst>
          </p:cNvPr>
          <p:cNvPicPr>
            <a:picLocks noChangeAspect="1"/>
          </p:cNvPicPr>
          <p:nvPr/>
        </p:nvPicPr>
        <p:blipFill>
          <a:blip r:embed="rId3"/>
          <a:stretch>
            <a:fillRect/>
          </a:stretch>
        </p:blipFill>
        <p:spPr>
          <a:xfrm>
            <a:off x="6652720" y="2569464"/>
            <a:ext cx="4671664" cy="3678936"/>
          </a:xfrm>
          <a:prstGeom prst="rect">
            <a:avLst/>
          </a:prstGeom>
        </p:spPr>
      </p:pic>
    </p:spTree>
    <p:extLst>
      <p:ext uri="{BB962C8B-B14F-4D97-AF65-F5344CB8AC3E}">
        <p14:creationId xmlns:p14="http://schemas.microsoft.com/office/powerpoint/2010/main" val="2683097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160895-6677-8B4A-4398-D07DEE1E3648}"/>
              </a:ext>
            </a:extLst>
          </p:cNvPr>
          <p:cNvSpPr>
            <a:spLocks noGrp="1"/>
          </p:cNvSpPr>
          <p:nvPr>
            <p:ph idx="1"/>
          </p:nvPr>
        </p:nvSpPr>
        <p:spPr>
          <a:xfrm>
            <a:off x="226143" y="216310"/>
            <a:ext cx="11127658" cy="6430296"/>
          </a:xfrm>
        </p:spPr>
        <p:txBody>
          <a:bodyPr>
            <a:normAutofit fontScale="92500" lnSpcReduction="20000"/>
          </a:bodyPr>
          <a:lstStyle/>
          <a:p>
            <a:r>
              <a:rPr lang="en-GB" dirty="0"/>
              <a:t>For the </a:t>
            </a:r>
            <a:r>
              <a:rPr lang="en-GB" sz="2800" dirty="0"/>
              <a:t>Naïve Bayes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pPr algn="l"/>
            <a:endParaRPr lang="en-GB" sz="1800" b="1" i="0" dirty="0">
              <a:solidFill>
                <a:srgbClr val="000000"/>
              </a:solidFill>
              <a:effectLst/>
              <a:latin typeface="Helvetica Neue"/>
            </a:endParaRPr>
          </a:p>
          <a:p>
            <a:pPr algn="l"/>
            <a:endParaRPr lang="en-GB" sz="1800" b="1" dirty="0">
              <a:solidFill>
                <a:srgbClr val="000000"/>
              </a:solidFill>
              <a:latin typeface="Helvetica Neue"/>
            </a:endParaRPr>
          </a:p>
          <a:p>
            <a:pPr algn="l"/>
            <a:endParaRPr lang="en-GB" sz="1800" b="1" i="0" dirty="0">
              <a:solidFill>
                <a:srgbClr val="000000"/>
              </a:solidFill>
              <a:effectLst/>
              <a:latin typeface="Helvetica Neue"/>
            </a:endParaRPr>
          </a:p>
          <a:p>
            <a:pPr algn="l"/>
            <a:r>
              <a:rPr lang="en-GB" sz="1800" b="1" i="0" dirty="0">
                <a:solidFill>
                  <a:srgbClr val="000000"/>
                </a:solidFill>
                <a:effectLst/>
                <a:latin typeface="Helvetica Neue"/>
              </a:rPr>
              <a:t>Comparison:</a:t>
            </a:r>
          </a:p>
          <a:p>
            <a:pPr algn="l"/>
            <a:r>
              <a:rPr lang="en-GB" sz="1800" b="1" i="0" dirty="0">
                <a:solidFill>
                  <a:srgbClr val="000000"/>
                </a:solidFill>
                <a:effectLst/>
                <a:latin typeface="Helvetica Neue"/>
              </a:rPr>
              <a:t>Best performer: Random Forest Classifier (RFC) achieves the highest average recall score (0.9818), indicating the best performance overall in identifying positive cases.</a:t>
            </a:r>
          </a:p>
          <a:p>
            <a:pPr algn="l"/>
            <a:r>
              <a:rPr lang="en-GB" sz="1800" b="1" i="0" dirty="0">
                <a:solidFill>
                  <a:srgbClr val="000000"/>
                </a:solidFill>
                <a:effectLst/>
                <a:latin typeface="Helvetica Neue"/>
              </a:rPr>
              <a:t>Second-best performer: Support Vector Machine (SVM) follows closely with a recall score of 0.9790, making it a strong contender but slightly less effective than RFC.</a:t>
            </a:r>
          </a:p>
          <a:p>
            <a:pPr algn="l"/>
            <a:r>
              <a:rPr lang="en-GB" sz="1800" b="1" i="0" dirty="0">
                <a:solidFill>
                  <a:srgbClr val="000000"/>
                </a:solidFill>
                <a:effectLst/>
                <a:latin typeface="Helvetica Neue"/>
              </a:rPr>
              <a:t>Third-best performer: The NB model shows the lowest average recall score (0.8333), indicating that its ability to detect positive cases is considerably lower than the other two models.</a:t>
            </a:r>
          </a:p>
          <a:p>
            <a:endParaRPr lang="en-GB" dirty="0"/>
          </a:p>
        </p:txBody>
      </p:sp>
      <p:pic>
        <p:nvPicPr>
          <p:cNvPr id="5" name="Picture 4">
            <a:extLst>
              <a:ext uri="{FF2B5EF4-FFF2-40B4-BE49-F238E27FC236}">
                <a16:creationId xmlns:a16="http://schemas.microsoft.com/office/drawing/2014/main" id="{02545E3B-2E74-5A7F-3755-9AE4F4FC6AC9}"/>
              </a:ext>
            </a:extLst>
          </p:cNvPr>
          <p:cNvPicPr>
            <a:picLocks noChangeAspect="1"/>
          </p:cNvPicPr>
          <p:nvPr/>
        </p:nvPicPr>
        <p:blipFill>
          <a:blip r:embed="rId2"/>
          <a:stretch>
            <a:fillRect/>
          </a:stretch>
        </p:blipFill>
        <p:spPr>
          <a:xfrm>
            <a:off x="226143" y="606293"/>
            <a:ext cx="5172486" cy="3778285"/>
          </a:xfrm>
          <a:prstGeom prst="rect">
            <a:avLst/>
          </a:prstGeom>
        </p:spPr>
      </p:pic>
      <p:pic>
        <p:nvPicPr>
          <p:cNvPr id="9" name="Picture 8">
            <a:extLst>
              <a:ext uri="{FF2B5EF4-FFF2-40B4-BE49-F238E27FC236}">
                <a16:creationId xmlns:a16="http://schemas.microsoft.com/office/drawing/2014/main" id="{9EE4C011-29C8-6C64-3F7A-B0CC73B6A456}"/>
              </a:ext>
            </a:extLst>
          </p:cNvPr>
          <p:cNvPicPr>
            <a:picLocks noChangeAspect="1"/>
          </p:cNvPicPr>
          <p:nvPr/>
        </p:nvPicPr>
        <p:blipFill>
          <a:blip r:embed="rId3"/>
          <a:stretch>
            <a:fillRect/>
          </a:stretch>
        </p:blipFill>
        <p:spPr>
          <a:xfrm>
            <a:off x="5747087" y="606293"/>
            <a:ext cx="5258256" cy="4206605"/>
          </a:xfrm>
          <a:prstGeom prst="rect">
            <a:avLst/>
          </a:prstGeom>
        </p:spPr>
      </p:pic>
    </p:spTree>
    <p:extLst>
      <p:ext uri="{BB962C8B-B14F-4D97-AF65-F5344CB8AC3E}">
        <p14:creationId xmlns:p14="http://schemas.microsoft.com/office/powerpoint/2010/main" val="4066223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6" name="Rectangle 4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Freeform: Shape 4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Rectangle 5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858645-3D41-BDED-7357-170976FB3B69}"/>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Challenges and solutions (Time-series)</a:t>
            </a:r>
          </a:p>
        </p:txBody>
      </p:sp>
      <p:sp>
        <p:nvSpPr>
          <p:cNvPr id="3" name="Content Placeholder 2">
            <a:extLst>
              <a:ext uri="{FF2B5EF4-FFF2-40B4-BE49-F238E27FC236}">
                <a16:creationId xmlns:a16="http://schemas.microsoft.com/office/drawing/2014/main" id="{469CF257-D666-1534-CB64-2E60E6B45744}"/>
              </a:ext>
            </a:extLst>
          </p:cNvPr>
          <p:cNvSpPr>
            <a:spLocks noGrp="1"/>
          </p:cNvSpPr>
          <p:nvPr>
            <p:ph idx="1"/>
          </p:nvPr>
        </p:nvSpPr>
        <p:spPr>
          <a:xfrm>
            <a:off x="4810259" y="649480"/>
            <a:ext cx="6555347" cy="5546047"/>
          </a:xfrm>
        </p:spPr>
        <p:txBody>
          <a:bodyPr anchor="ctr">
            <a:normAutofit/>
          </a:bodyPr>
          <a:lstStyle/>
          <a:p>
            <a:r>
              <a:rPr lang="en-US" sz="1400" b="1"/>
              <a:t>Handling the Volume Column</a:t>
            </a:r>
          </a:p>
          <a:p>
            <a:pPr marL="0" indent="0">
              <a:buNone/>
            </a:pPr>
            <a:r>
              <a:rPr lang="en-US" sz="1400"/>
              <a:t>Initially, we faced challenges with the volume column since it does not represent a price, unlike the other attributes. After evaluating its impact on the data and model, we decided that dropping the column was the best approach to maintain consistency and relevance in our dataset.</a:t>
            </a:r>
          </a:p>
          <a:p>
            <a:r>
              <a:rPr lang="en-US" sz="1400" b="1"/>
              <a:t>Dealing with Outliers</a:t>
            </a:r>
          </a:p>
          <a:p>
            <a:pPr marL="0" indent="0">
              <a:buNone/>
            </a:pPr>
            <a:r>
              <a:rPr lang="en-US" sz="1400"/>
              <a:t>During preprocessing, we identified potential outliers in the data. However, instead of removing them immediately, we thoroughly reviewed the data. Upon closer inspection, we found that these "outliers" were not actual anomalies but rather a result of a significant market pump in late 2018, which caused noticeable price variations. As a result, we retained these data points for accurate modeling.</a:t>
            </a:r>
          </a:p>
          <a:p>
            <a:r>
              <a:rPr lang="en-US" sz="1400" b="1"/>
              <a:t>Addressing Overfitting</a:t>
            </a:r>
          </a:p>
          <a:p>
            <a:pPr marL="0" indent="0">
              <a:buNone/>
            </a:pPr>
            <a:r>
              <a:rPr lang="en-US" sz="1400"/>
              <a:t>Overfitting became a concern during model training. To mitigate this issue, we implemented the following solutions:</a:t>
            </a:r>
          </a:p>
          <a:p>
            <a:pPr>
              <a:buFont typeface="Wingdings" panose="05000000000000000000" pitchFamily="2" charset="2"/>
              <a:buChar char="q"/>
            </a:pPr>
            <a:r>
              <a:rPr lang="en-US" sz="1400"/>
              <a:t>Reduced the size of the training set and increased the size of the test set to improve generalization.</a:t>
            </a:r>
          </a:p>
          <a:p>
            <a:pPr>
              <a:buFont typeface="Wingdings" panose="05000000000000000000" pitchFamily="2" charset="2"/>
              <a:buChar char="q"/>
            </a:pPr>
            <a:r>
              <a:rPr lang="en-US" sz="1400"/>
              <a:t>Adjusted the reservoir size by reducing the number of neurons in the Echo State Network from 100 to 40. This configuration proved optimal for our dataset size, striking a balance between model complexity and performance.</a:t>
            </a:r>
          </a:p>
        </p:txBody>
      </p:sp>
    </p:spTree>
    <p:extLst>
      <p:ext uri="{BB962C8B-B14F-4D97-AF65-F5344CB8AC3E}">
        <p14:creationId xmlns:p14="http://schemas.microsoft.com/office/powerpoint/2010/main" val="2609097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2" name="Title 1">
            <a:extLst>
              <a:ext uri="{FF2B5EF4-FFF2-40B4-BE49-F238E27FC236}">
                <a16:creationId xmlns:a16="http://schemas.microsoft.com/office/drawing/2014/main" id="{852CA7A4-F3CC-8A96-76D6-6281C0250CF5}"/>
              </a:ext>
            </a:extLst>
          </p:cNvPr>
          <p:cNvSpPr>
            <a:spLocks noGrp="1"/>
          </p:cNvSpPr>
          <p:nvPr>
            <p:ph type="title"/>
          </p:nvPr>
        </p:nvSpPr>
        <p:spPr>
          <a:xfrm>
            <a:off x="838200" y="643467"/>
            <a:ext cx="2951205" cy="5571066"/>
          </a:xfrm>
        </p:spPr>
        <p:txBody>
          <a:bodyPr>
            <a:normAutofit/>
          </a:bodyPr>
          <a:lstStyle/>
          <a:p>
            <a:r>
              <a:rPr lang="en-GB">
                <a:solidFill>
                  <a:srgbClr val="FFFFFF"/>
                </a:solidFill>
              </a:rPr>
              <a:t>Challenges and solutions.</a:t>
            </a:r>
          </a:p>
        </p:txBody>
      </p:sp>
      <p:graphicFrame>
        <p:nvGraphicFramePr>
          <p:cNvPr id="8" name="Content Placeholder 2">
            <a:extLst>
              <a:ext uri="{FF2B5EF4-FFF2-40B4-BE49-F238E27FC236}">
                <a16:creationId xmlns:a16="http://schemas.microsoft.com/office/drawing/2014/main" id="{48FFC23C-6577-5BBD-6B43-CB3630200C1A}"/>
              </a:ext>
            </a:extLst>
          </p:cNvPr>
          <p:cNvGraphicFramePr>
            <a:graphicFrameLocks noGrp="1"/>
          </p:cNvGraphicFramePr>
          <p:nvPr>
            <p:ph idx="1"/>
          </p:nvPr>
        </p:nvGraphicFramePr>
        <p:xfrm>
          <a:off x="5207640" y="643466"/>
          <a:ext cx="6291714" cy="5530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154963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7" name="Rectangle 3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Freeform: Shape 40">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2" name="Rectangle 4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7D1207-F9F5-421E-8AD2-7EEAFBE675B0}"/>
              </a:ext>
            </a:extLst>
          </p:cNvPr>
          <p:cNvSpPr>
            <a:spLocks noGrp="1"/>
          </p:cNvSpPr>
          <p:nvPr>
            <p:ph type="title"/>
          </p:nvPr>
        </p:nvSpPr>
        <p:spPr>
          <a:xfrm>
            <a:off x="466722" y="586855"/>
            <a:ext cx="3201366" cy="3387497"/>
          </a:xfrm>
        </p:spPr>
        <p:txBody>
          <a:bodyPr anchor="b">
            <a:normAutofit/>
          </a:bodyPr>
          <a:lstStyle/>
          <a:p>
            <a:pPr algn="r"/>
            <a:r>
              <a:rPr lang="en-GB" sz="4000" dirty="0">
                <a:solidFill>
                  <a:srgbClr val="FFFFFF"/>
                </a:solidFill>
              </a:rPr>
              <a:t>Conclusion and future directions</a:t>
            </a:r>
          </a:p>
        </p:txBody>
      </p:sp>
      <p:sp>
        <p:nvSpPr>
          <p:cNvPr id="43" name="Content Placeholder 2">
            <a:extLst>
              <a:ext uri="{FF2B5EF4-FFF2-40B4-BE49-F238E27FC236}">
                <a16:creationId xmlns:a16="http://schemas.microsoft.com/office/drawing/2014/main" id="{BB4249FC-8A4A-53E3-10DB-4031AF1EF7A6}"/>
              </a:ext>
            </a:extLst>
          </p:cNvPr>
          <p:cNvSpPr>
            <a:spLocks noGrp="1"/>
          </p:cNvSpPr>
          <p:nvPr>
            <p:ph idx="1"/>
          </p:nvPr>
        </p:nvSpPr>
        <p:spPr>
          <a:xfrm>
            <a:off x="4810259" y="649480"/>
            <a:ext cx="6555347" cy="5546047"/>
          </a:xfrm>
        </p:spPr>
        <p:txBody>
          <a:bodyPr anchor="ctr">
            <a:normAutofit/>
          </a:bodyPr>
          <a:lstStyle/>
          <a:p>
            <a:r>
              <a:rPr lang="en-GB" sz="1400" b="1"/>
              <a:t>Conclusion</a:t>
            </a:r>
            <a:r>
              <a:rPr lang="en-GB" sz="1400"/>
              <a:t>: In this project, we evaluated three models for forecasting price data: LSTM, Bi-Directional LSTM (Bi-LSTM), and Echo State Network (ESN). Among these, the LSTM model demonstrated the best performance, achieving an R-squared value of 0.9579, which indicates it can explain approximately 95.79% of the variance in the data. Its low MSE value of 0.0147 further highlights its accuracy in making predictions.The Bi-LSTM model also performed strongly, with an R-squared value of 0.9506 and an MSE of 0.0160, showing results very close to those of the LSTM model. However, the ESN model had a significantly higher MSE of 0.0285, making it less efficient for this task compared to the LSTM-based models. This suggests that LSTM-based architectures are better suited for time-series forecasting of price data in this context.</a:t>
            </a:r>
          </a:p>
          <a:p>
            <a:pPr marL="0" indent="0">
              <a:buNone/>
            </a:pPr>
            <a:r>
              <a:rPr lang="en-GB" sz="1400"/>
              <a:t>      </a:t>
            </a:r>
            <a:r>
              <a:rPr lang="en-GB" sz="1400" b="1"/>
              <a:t>Future Directions </a:t>
            </a:r>
            <a:r>
              <a:rPr lang="en-GB" sz="1400"/>
              <a:t>For future work on forecasting price datasets, we aim to improve model performance and </a:t>
            </a:r>
          </a:p>
          <a:p>
            <a:pPr marL="0" indent="0">
              <a:buNone/>
            </a:pPr>
            <a:r>
              <a:rPr lang="en-GB" sz="1400"/>
              <a:t>      incorporate additional factors to enhance prediction accuracy. Specifically:</a:t>
            </a:r>
          </a:p>
          <a:p>
            <a:r>
              <a:rPr lang="en-GB" sz="1400"/>
              <a:t>Inclusion of More Attributes: Expanding the dataset to include more technical indicators, such as moving averages, RSI (Relative Strength Index), and Bollinger Bands, could provide the models with richer features to learn from.</a:t>
            </a:r>
          </a:p>
          <a:p>
            <a:r>
              <a:rPr lang="en-GB" sz="1400"/>
              <a:t>Market News as a Factor: Incorporating sentiment analysis from market news and social media trends can provide insights into external factors influencing prices.</a:t>
            </a:r>
          </a:p>
          <a:p>
            <a:r>
              <a:rPr lang="en-GB" sz="1400"/>
              <a:t>Exploring Advanced Architectures: Testing more advanced models, such as Transformer-based architectures or hybrid models combining LSTM with external knowledge, could lead to better results.</a:t>
            </a:r>
          </a:p>
        </p:txBody>
      </p:sp>
    </p:spTree>
    <p:extLst>
      <p:ext uri="{BB962C8B-B14F-4D97-AF65-F5344CB8AC3E}">
        <p14:creationId xmlns:p14="http://schemas.microsoft.com/office/powerpoint/2010/main" val="32292126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FD4A89-7AEC-55FE-B309-0CF6E27501DA}"/>
              </a:ext>
            </a:extLst>
          </p:cNvPr>
          <p:cNvSpPr>
            <a:spLocks noGrp="1"/>
          </p:cNvSpPr>
          <p:nvPr>
            <p:ph type="title"/>
          </p:nvPr>
        </p:nvSpPr>
        <p:spPr>
          <a:xfrm>
            <a:off x="686834" y="1153572"/>
            <a:ext cx="3200400" cy="4461163"/>
          </a:xfrm>
        </p:spPr>
        <p:txBody>
          <a:bodyPr>
            <a:normAutofit/>
          </a:bodyPr>
          <a:lstStyle/>
          <a:p>
            <a:r>
              <a:rPr lang="en-GB" dirty="0">
                <a:solidFill>
                  <a:srgbClr val="FFFFFF"/>
                </a:solidFill>
              </a:rPr>
              <a:t>Conclusion and future directions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FBDF404-7151-009A-8673-65491778E212}"/>
              </a:ext>
            </a:extLst>
          </p:cNvPr>
          <p:cNvSpPr>
            <a:spLocks noGrp="1"/>
          </p:cNvSpPr>
          <p:nvPr>
            <p:ph idx="1"/>
          </p:nvPr>
        </p:nvSpPr>
        <p:spPr>
          <a:xfrm>
            <a:off x="4447308" y="591344"/>
            <a:ext cx="6906491" cy="5585619"/>
          </a:xfrm>
        </p:spPr>
        <p:txBody>
          <a:bodyPr anchor="ctr">
            <a:normAutofit/>
          </a:bodyPr>
          <a:lstStyle/>
          <a:p>
            <a:pPr>
              <a:buFont typeface="+mj-lt"/>
              <a:buAutoNum type="arabicPeriod"/>
            </a:pPr>
            <a:endParaRPr lang="en-GB" sz="1700" dirty="0"/>
          </a:p>
          <a:p>
            <a:pPr marL="457200" lvl="1" indent="0" algn="ctr">
              <a:buNone/>
            </a:pPr>
            <a:r>
              <a:rPr lang="en-GB" sz="1700" dirty="0"/>
              <a:t>Conclusion: Random Forest emerged as the best-performing model, balancing high accuracy with interpretability. It outperformed SVM and Naive Bayes on most metrics, making it the most suitable choice for deployment in this context.</a:t>
            </a:r>
          </a:p>
          <a:p>
            <a:pPr marL="457200" lvl="1" indent="0" algn="ctr">
              <a:buNone/>
            </a:pPr>
            <a:endParaRPr lang="en-GB" sz="1700" dirty="0"/>
          </a:p>
          <a:p>
            <a:pPr marL="457200" lvl="1" indent="0" algn="ctr">
              <a:buNone/>
            </a:pPr>
            <a:r>
              <a:rPr lang="en-GB" sz="1700" dirty="0"/>
              <a:t>future directions such as Exploring Additional Models like </a:t>
            </a:r>
            <a:r>
              <a:rPr lang="en-GB" sz="1700" dirty="0" err="1"/>
              <a:t>XGBoost</a:t>
            </a:r>
            <a:r>
              <a:rPr lang="en-GB" sz="1700" dirty="0"/>
              <a:t>, </a:t>
            </a:r>
            <a:r>
              <a:rPr lang="en-GB" sz="1700" dirty="0" err="1"/>
              <a:t>LightGBM</a:t>
            </a:r>
            <a:r>
              <a:rPr lang="en-GB" sz="1700" dirty="0"/>
              <a:t>, or </a:t>
            </a:r>
            <a:r>
              <a:rPr lang="en-GB" sz="1700" dirty="0" err="1"/>
              <a:t>CatBoost</a:t>
            </a:r>
            <a:r>
              <a:rPr lang="en-GB" sz="1700" dirty="0"/>
              <a:t> to potentially achieve better performance</a:t>
            </a:r>
          </a:p>
          <a:p>
            <a:pPr marL="457200" lvl="1" indent="0" algn="ctr">
              <a:buNone/>
            </a:pPr>
            <a:endParaRPr lang="en-GB" sz="1700" dirty="0"/>
          </a:p>
          <a:p>
            <a:pPr marL="0" indent="0" algn="ctr">
              <a:buNone/>
            </a:pPr>
            <a:r>
              <a:rPr lang="en-GB" sz="1700" dirty="0"/>
              <a:t>       Develop a user-friendly application to deploy the model for real-time        predictions in clinical settings.</a:t>
            </a:r>
          </a:p>
          <a:p>
            <a:pPr marL="0" indent="0" algn="ctr">
              <a:buNone/>
            </a:pPr>
            <a:endParaRPr lang="en-GB" sz="1700" dirty="0"/>
          </a:p>
          <a:p>
            <a:pPr marL="0" indent="0" algn="ctr">
              <a:buNone/>
            </a:pPr>
            <a:r>
              <a:rPr lang="en-GB" sz="1700" dirty="0"/>
              <a:t>Test the model's performance in real-world scenarios to validate its effectiveness beyond the dataset.</a:t>
            </a:r>
          </a:p>
          <a:p>
            <a:endParaRPr lang="en-GB" sz="1700" dirty="0"/>
          </a:p>
        </p:txBody>
      </p:sp>
    </p:spTree>
    <p:extLst>
      <p:ext uri="{BB962C8B-B14F-4D97-AF65-F5344CB8AC3E}">
        <p14:creationId xmlns:p14="http://schemas.microsoft.com/office/powerpoint/2010/main" val="7549061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859</TotalTime>
  <Words>1922</Words>
  <Application>Microsoft Office PowerPoint</Application>
  <PresentationFormat>Widescreen</PresentationFormat>
  <Paragraphs>163</Paragraphs>
  <Slides>16</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16</vt:i4>
      </vt:variant>
    </vt:vector>
  </HeadingPairs>
  <TitlesOfParts>
    <vt:vector size="26" baseType="lpstr">
      <vt:lpstr>Aptos</vt:lpstr>
      <vt:lpstr>Aptos (Body)</vt:lpstr>
      <vt:lpstr>Aptos Display</vt:lpstr>
      <vt:lpstr>Arial</vt:lpstr>
      <vt:lpstr>Calibri</vt:lpstr>
      <vt:lpstr>Helvetica Neue</vt:lpstr>
      <vt:lpstr>Inter</vt:lpstr>
      <vt:lpstr>Wingdings</vt:lpstr>
      <vt:lpstr>Office Theme</vt:lpstr>
      <vt:lpstr>Office Theme</vt:lpstr>
      <vt:lpstr>"Time-Series Forecasting and Classification Models: A Machine Learning Approach"</vt:lpstr>
      <vt:lpstr>Project Overview</vt:lpstr>
      <vt:lpstr>Datasets Description: Time-Series Data</vt:lpstr>
      <vt:lpstr>Time-series Preprocessing</vt:lpstr>
      <vt:lpstr>Datasets Description: Classification Data</vt:lpstr>
      <vt:lpstr>Methodology (Time-series)</vt:lpstr>
      <vt:lpstr>Methodology (Classification)</vt:lpstr>
      <vt:lpstr>PowerPoint Presentation</vt:lpstr>
      <vt:lpstr>Results &amp; Comparison (Time-series)</vt:lpstr>
      <vt:lpstr>Results: Classification</vt:lpstr>
      <vt:lpstr>PowerPoint Presentation</vt:lpstr>
      <vt:lpstr>PowerPoint Presentation</vt:lpstr>
      <vt:lpstr>Challenges and solutions (Time-series)</vt:lpstr>
      <vt:lpstr>Challenges and solutions.</vt:lpstr>
      <vt:lpstr>Conclusion and future directions</vt:lpstr>
      <vt:lpstr>Conclusion and future directions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OMAR MAJDI MOTAWE JA'BOUR</dc:creator>
  <cp:lastModifiedBy>AYHAM MUNEER ALI OBEIDAT</cp:lastModifiedBy>
  <cp:revision>3</cp:revision>
  <dcterms:created xsi:type="dcterms:W3CDTF">2025-01-04T11:28:09Z</dcterms:created>
  <dcterms:modified xsi:type="dcterms:W3CDTF">2025-01-05T18:20:15Z</dcterms:modified>
</cp:coreProperties>
</file>